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d1d6c64662405e" /><Relationship Type="http://schemas.openxmlformats.org/officeDocument/2006/relationships/extended-properties" Target="/docProps/app.xml" Id="R071a95fa6d284a3c" /><Relationship Type="http://schemas.openxmlformats.org/officeDocument/2006/relationships/officeDocument" Target="/ppt/presentation.xml" Id="Rd6c6efc0d0234f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d7610acbf048ae"/>
  </p:sldMasterIdLst>
  <p:notesMasterIdLst>
    <p:notesMasterId xmlns:r="http://schemas.openxmlformats.org/officeDocument/2006/relationships" r:id="R6ec91edb9ec6428b"/>
  </p:notesMasterIdLst>
  <p:sldIdLst>
    <p:sldId xmlns:r="http://schemas.openxmlformats.org/officeDocument/2006/relationships" id="256" r:id="Rb94c8daea53449c1"/>
    <p:sldId xmlns:r="http://schemas.openxmlformats.org/officeDocument/2006/relationships" id="257" r:id="R6588cf0ff0f0434c"/>
    <p:sldId xmlns:r="http://schemas.openxmlformats.org/officeDocument/2006/relationships" id="258" r:id="Rb71bd29561ad419c"/>
    <p:sldId xmlns:r="http://schemas.openxmlformats.org/officeDocument/2006/relationships" id="259" r:id="R5ae669b2b8cb4b1d"/>
    <p:sldId xmlns:r="http://schemas.openxmlformats.org/officeDocument/2006/relationships" id="260" r:id="R61e1a8d17d064316"/>
    <p:sldId xmlns:r="http://schemas.openxmlformats.org/officeDocument/2006/relationships" id="261" r:id="R272f1065dd984794"/>
    <p:sldId xmlns:r="http://schemas.openxmlformats.org/officeDocument/2006/relationships" id="262" r:id="R611dfb72fa264c98"/>
    <p:sldId xmlns:r="http://schemas.openxmlformats.org/officeDocument/2006/relationships" id="263" r:id="R6855181609d14cb7"/>
    <p:sldId xmlns:r="http://schemas.openxmlformats.org/officeDocument/2006/relationships" id="264" r:id="R994fa614c7c14208"/>
    <p:sldId xmlns:r="http://schemas.openxmlformats.org/officeDocument/2006/relationships" id="265" r:id="R2c65244f595142c3"/>
    <p:sldId xmlns:r="http://schemas.openxmlformats.org/officeDocument/2006/relationships" id="266" r:id="R54d7f3d1e4de4165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3c4aa7459e4492" /><Relationship Type="http://schemas.openxmlformats.org/officeDocument/2006/relationships/slideMaster" Target="/ppt/slideMasters/slideMaster1.xml" Id="R88d7610acbf048ae" /><Relationship Type="http://schemas.openxmlformats.org/officeDocument/2006/relationships/notesMaster" Target="/ppt/notesMasters/notesMaster1.xml" Id="R6ec91edb9ec6428b" /><Relationship Type="http://schemas.openxmlformats.org/officeDocument/2006/relationships/presProps" Target="/ppt/presProps.xml" Id="R00ee59d284cb4b46" /><Relationship Type="http://schemas.openxmlformats.org/officeDocument/2006/relationships/viewProps" Target="/ppt/viewProps.xml" Id="Rcfbc7864d80a43b1" /><Relationship Type="http://schemas.openxmlformats.org/officeDocument/2006/relationships/tableStyles" Target="/ppt/tableStyles.xml" Id="R1bdc129e9989457c" /><Relationship Type="http://schemas.openxmlformats.org/officeDocument/2006/relationships/slide" Target="/ppt/slides/slide1.xml" Id="Rb94c8daea53449c1" /><Relationship Type="http://schemas.openxmlformats.org/officeDocument/2006/relationships/slide" Target="/ppt/slides/slide2.xml" Id="R6588cf0ff0f0434c" /><Relationship Type="http://schemas.openxmlformats.org/officeDocument/2006/relationships/slide" Target="/ppt/slides/slide3.xml" Id="Rb71bd29561ad419c" /><Relationship Type="http://schemas.openxmlformats.org/officeDocument/2006/relationships/slide" Target="/ppt/slides/slide4.xml" Id="R5ae669b2b8cb4b1d" /><Relationship Type="http://schemas.openxmlformats.org/officeDocument/2006/relationships/slide" Target="/ppt/slides/slide5.xml" Id="R61e1a8d17d064316" /><Relationship Type="http://schemas.openxmlformats.org/officeDocument/2006/relationships/slide" Target="/ppt/slides/slide6.xml" Id="R272f1065dd984794" /><Relationship Type="http://schemas.openxmlformats.org/officeDocument/2006/relationships/slide" Target="/ppt/slides/slide7.xml" Id="R611dfb72fa264c98" /><Relationship Type="http://schemas.openxmlformats.org/officeDocument/2006/relationships/slide" Target="/ppt/slides/slide8.xml" Id="R6855181609d14cb7" /><Relationship Type="http://schemas.openxmlformats.org/officeDocument/2006/relationships/slide" Target="/ppt/slides/slide9.xml" Id="R994fa614c7c14208" /><Relationship Type="http://schemas.openxmlformats.org/officeDocument/2006/relationships/slide" Target="/ppt/slides/slide10.xml" Id="R2c65244f595142c3" /><Relationship Type="http://schemas.openxmlformats.org/officeDocument/2006/relationships/slide" Target="/ppt/slides/slide11.xml" Id="R54d7f3d1e4de41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d10690bd4846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1c080275284a40" /><Relationship Type="http://schemas.openxmlformats.org/officeDocument/2006/relationships/notesMaster" Target="/ppt/notesMasters/notesMaster1.xml" Id="R1111eb0cea1b43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d56b912d624ffd" /><Relationship Type="http://schemas.openxmlformats.org/officeDocument/2006/relationships/notesMaster" Target="/ppt/notesMasters/notesMaster1.xml" Id="Ra3a8ff9679374c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7e19d6b7f14fb8" /><Relationship Type="http://schemas.openxmlformats.org/officeDocument/2006/relationships/notesMaster" Target="/ppt/notesMasters/notesMaster1.xml" Id="R4fdf1cf9b2e543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fc7b9af51f4a20" /><Relationship Type="http://schemas.openxmlformats.org/officeDocument/2006/relationships/notesMaster" Target="/ppt/notesMasters/notesMaster1.xml" Id="Rf61633b690c345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7f0311ed834d6a" /><Relationship Type="http://schemas.openxmlformats.org/officeDocument/2006/relationships/notesMaster" Target="/ppt/notesMasters/notesMaster1.xml" Id="Rda04d22691604f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c5717484204f4e" /><Relationship Type="http://schemas.openxmlformats.org/officeDocument/2006/relationships/notesMaster" Target="/ppt/notesMasters/notesMaster1.xml" Id="R1a32b0e25f4d4e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f9984e3e53451f" /><Relationship Type="http://schemas.openxmlformats.org/officeDocument/2006/relationships/notesMaster" Target="/ppt/notesMasters/notesMaster1.xml" Id="Rc6ed76e381c348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5cb9613c214f89" /><Relationship Type="http://schemas.openxmlformats.org/officeDocument/2006/relationships/notesMaster" Target="/ppt/notesMasters/notesMaster1.xml" Id="Re6ef715c3c6a48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0b752003f4479e" /><Relationship Type="http://schemas.openxmlformats.org/officeDocument/2006/relationships/notesMaster" Target="/ppt/notesMasters/notesMaster1.xml" Id="R775ca7dc045a47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8211a12c8a408c" /><Relationship Type="http://schemas.openxmlformats.org/officeDocument/2006/relationships/notesMaster" Target="/ppt/notesMasters/notesMaster1.xml" Id="R02b188050c7a43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92678c2d4a4c36" /><Relationship Type="http://schemas.openxmlformats.org/officeDocument/2006/relationships/notesMaster" Target="/ppt/notesMasters/notesMaster1.xml" Id="Re5be3db23bc04c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Ten seconds. Name it, then go straight to the problem. Do not read the URL aloud.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Twenty-five seconds. Say it as a scene, not a market claim. The lime line is the thesis — pause after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Fifty seconds. Step 2 is the slide. The contract is a gate, not a log. The quoted question is the Monad bounty question — answer it before it's asked.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the slide title to open the live supplier comparison website. Live URL: https://rain-agentic-sourcepilot.vercel.app/compare</a:t>
            </a:r>
          </a:p>
          <a:p xmlns:a="http://schemas.openxmlformats.org/drawingml/2006/main">
            <a:r>
              <a:t>Keep the original screenshot on screen as a stable fallback during the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https://rain-agentic-sourcepilot.vercel.app/compare (live deployed route, accessed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the slide title to open the live owner-approval website. Live URL: https://rain-agentic-sourcepilot.vercel.app/approve</a:t>
            </a:r>
          </a:p>
          <a:p xmlns:a="http://schemas.openxmlformats.org/drawingml/2006/main">
            <a:r>
              <a:t>Keep the original screenshot on screen as a stable fallback during the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https://rain-agentic-sourcepilot.vercel.app/approve (live deployed route, accessed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public Monad testnet registry. The three successful interactions are mandate creation, spend recording, and revocation.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12.45.16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Transaction 0xb690…f098 is the successful spend record. The contract interaction is public and independently inspectable.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12.46.07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Transaction 0x48b5…3ded revokes the mandate. After this state transition, later attempts cannot reuse the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12.46.19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successful result: the active Rain sandbox card, last four digits, and expiry. Never display the API key, session secret, PAN, CVC, or authentication header.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9.48.13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Forty seconds. Open one of these in the explorer if the room is engaged. The remaining-166000 line is the ceiling actually decrementing — that is the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Twenty-five seconds, and do not rush it. Naming the seam before judges find it is the strongest move in the deck. Four Rain employees are in the room; the simulated line must come from you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0532802d144a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3ca95b8fa646e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635bea9ac64b2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eff5c63bc34c4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a78055ad334e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8e91bdf06f4be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1139df5199453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ce964018af45a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762304782041a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9381ff917543e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7d28b4a32546b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3826AB-160E-4E09-80EB-47BD80A18D0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A07A4A5-7032-4931-95CE-8D216C3CDDF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4DDC6C-8A2D-4197-B245-0A3D21EC55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B3D0FF-968C-40C7-BA5B-BBF518F11C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082914-7A3B-45FA-9C6D-784ED00562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4573BC-86EF-4210-9E42-3428D95778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AF8FC1F-7A68-445C-908C-5124A138D6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553F734-535E-4544-9ECF-C71CA44E53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254666D-AFF0-4D40-BCD6-D7B961586A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CE8843-EA96-4028-BCFF-B95227BAB3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97EAC0-D9D8-4B44-BE6A-E8BC78F9FC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08BCB8-6E5C-41EE-AD6B-BC6D12BA1F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3254BD-E2EB-4C07-96CC-A6717E8EFE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039219F-F72C-49AE-86C6-3C4E4E4068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A0EEE7B-E91E-461F-BBCB-C24DCABC1D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5163FF-FC7B-41F2-B80D-AA16B55D33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8EED26-F276-4D84-A0D6-820A71E04AD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F4C49C2-7F71-4165-9B08-415974CEDA9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25B8D1F-8094-4B66-AB63-A6C4E9FA88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DDD5F9-1123-4460-BAB4-A8206E1969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59B1965-A25E-4222-A032-5BBEAEC84E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FAAC72-AB65-46A8-BB3B-614C65BE41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A97D08-4CD7-4D93-B181-BF88F5AD85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A1F5930-B373-4C7D-943A-250DA15809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FE7DE91-1D76-4BD1-9678-49FFE84BDC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5D2F497-2795-4A8D-B834-72B2ECC4A0B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E621673-D617-4757-9176-47DF70F333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E632240-9A33-4F3C-B1B7-A62802A22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5B0A243-133B-45E5-932F-43C6F4664F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24E878-FE20-44F1-AFDC-BD002F0273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AFEBF2-016C-4CC3-ADBC-E18EDF3D53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9F0DFEE-AD1E-462A-B377-48D8E58E10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3DCF1FF-1F03-4C20-831F-CB7649CE89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A1DDA08-8DA2-4411-AF64-4961B14FF3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A112B12-C829-4A15-A43E-344A72BEB0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2EB2BE0-18E6-4013-B6C6-A07E7A638A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756E6C-1B6F-4805-9532-20D373144F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72D12B6-B58D-4BE7-BBD2-266BEB5866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5E9280F-6F7C-4CCE-901B-D954C240757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F83A2A9-661A-4C64-B797-34F832C23A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A6B2C-E467-4C5D-9F86-0FE9AE8DD1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3FD5839-92BE-4282-9BC3-6B7E1BE6C1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196DCA-675D-44BF-9A95-4DC397674B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26B154-05E5-4836-A8C5-0C67A39275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4A3949E-49A0-4611-B5D0-8C9E86EBD12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E4BBB9-F7A5-41D0-B7E6-7B696457E6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FB32C4F-0109-4449-BAF5-F9E137AB83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F93536-DD66-4B45-A66B-8A949821E5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747913-BEA0-4ECE-B83E-A204568E33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FAEB40F-09E3-4BBA-8BD4-E004E775CE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7FB822-D89B-42F9-B293-327A179CF1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E81664-FD0C-4E1E-8634-81BD9A6CE5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08BA8E-DD28-4F33-94DF-A2843DA2FB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B532A11-DD7D-43DC-B279-0D9AA325DE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42FEAAA-25AD-49F5-B51A-3BFA7D50D2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2BDE2B-59D0-432B-A53B-7B0BE9026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0E26361-B244-49A9-816D-5696AAAD15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635731-5DC0-4945-AD25-C2FC40479C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bcb55556734f1d" /><Relationship Type="http://schemas.openxmlformats.org/officeDocument/2006/relationships/slideLayout" Target="/ppt/slideLayouts/slideLayout1.xml" Id="Rae9e010849e34524" /><Relationship Type="http://schemas.openxmlformats.org/officeDocument/2006/relationships/slideLayout" Target="/ppt/slideLayouts/slideLayout2.xml" Id="R0dad54761cc549b0" /><Relationship Type="http://schemas.openxmlformats.org/officeDocument/2006/relationships/slideLayout" Target="/ppt/slideLayouts/slideLayout3.xml" Id="R7b4be81054de479f" /><Relationship Type="http://schemas.openxmlformats.org/officeDocument/2006/relationships/slideLayout" Target="/ppt/slideLayouts/slideLayout4.xml" Id="Rc3e9dc211fe0409c" /><Relationship Type="http://schemas.openxmlformats.org/officeDocument/2006/relationships/slideLayout" Target="/ppt/slideLayouts/slideLayout5.xml" Id="R986dac4ae97747cc" /><Relationship Type="http://schemas.openxmlformats.org/officeDocument/2006/relationships/slideLayout" Target="/ppt/slideLayouts/slideLayout6.xml" Id="R826231ed94c84a41" /><Relationship Type="http://schemas.openxmlformats.org/officeDocument/2006/relationships/slideLayout" Target="/ppt/slideLayouts/slideLayout7.xml" Id="R610186be92d24bae" /><Relationship Type="http://schemas.openxmlformats.org/officeDocument/2006/relationships/slideLayout" Target="/ppt/slideLayouts/slideLayout8.xml" Id="R1b673f61b1a94c3f" /><Relationship Type="http://schemas.openxmlformats.org/officeDocument/2006/relationships/slideLayout" Target="/ppt/slideLayouts/slideLayout9.xml" Id="R23c7d4f7c94f4d4b" /><Relationship Type="http://schemas.openxmlformats.org/officeDocument/2006/relationships/slideLayout" Target="/ppt/slideLayouts/slideLayout10.xml" Id="R6813ba6b4c87418d" /><Relationship Type="http://schemas.openxmlformats.org/officeDocument/2006/relationships/slideLayout" Target="/ppt/slideLayouts/slideLayout11.xml" Id="R1d5796b4bb014aa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38FD4A-98F9-46C5-B00D-CD8BB46708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A7E4E80-A173-4250-9658-87855E1EE2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FB7B95-33B8-4FCD-8190-341BC2B0351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D2C59A-A76C-4CB6-9B73-4FCF41EA58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160DD3-C0A0-47B4-912D-2F95B4316D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9e010849e34524"/>
    <p:sldLayoutId xmlns:r="http://schemas.openxmlformats.org/officeDocument/2006/relationships" id="2147483650" r:id="R0dad54761cc549b0"/>
    <p:sldLayoutId xmlns:r="http://schemas.openxmlformats.org/officeDocument/2006/relationships" id="2147483651" r:id="R7b4be81054de479f"/>
    <p:sldLayoutId xmlns:r="http://schemas.openxmlformats.org/officeDocument/2006/relationships" id="2147483652" r:id="Rc3e9dc211fe0409c"/>
    <p:sldLayoutId xmlns:r="http://schemas.openxmlformats.org/officeDocument/2006/relationships" id="2147483653" r:id="R986dac4ae97747cc"/>
    <p:sldLayoutId xmlns:r="http://schemas.openxmlformats.org/officeDocument/2006/relationships" id="2147483654" r:id="R826231ed94c84a41"/>
    <p:sldLayoutId xmlns:r="http://schemas.openxmlformats.org/officeDocument/2006/relationships" id="2147483655" r:id="R610186be92d24bae"/>
    <p:sldLayoutId xmlns:r="http://schemas.openxmlformats.org/officeDocument/2006/relationships" id="2147483656" r:id="R1b673f61b1a94c3f"/>
    <p:sldLayoutId xmlns:r="http://schemas.openxmlformats.org/officeDocument/2006/relationships" id="2147483657" r:id="R23c7d4f7c94f4d4b"/>
    <p:sldLayoutId xmlns:r="http://schemas.openxmlformats.org/officeDocument/2006/relationships" id="2147483658" r:id="R6813ba6b4c87418d"/>
    <p:sldLayoutId xmlns:r="http://schemas.openxmlformats.org/officeDocument/2006/relationships" id="2147483659" r:id="R1d5796b4bb014aa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dc61151a324350" /><Relationship Type="http://schemas.openxmlformats.org/officeDocument/2006/relationships/notesSlide" Target="/ppt/notesSlides/notesSlide1.xml" Id="R35adc5fef2dc46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3fb139a03c4ac0" /><Relationship Type="http://schemas.openxmlformats.org/officeDocument/2006/relationships/notesSlide" Target="/ppt/notesSlides/notesSlide2.xml" Id="Rc76c0a8ca1b442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21bd3867d6450a" /><Relationship Type="http://schemas.openxmlformats.org/officeDocument/2006/relationships/notesSlide" Target="/ppt/notesSlides/notesSlide3.xml" Id="R135ef34c346a44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ea2c00e6d44f6" /><Relationship Type="http://schemas.openxmlformats.org/officeDocument/2006/relationships/image" Target="/ppt/media/image.png" Id="R900a1e373b0e4dcb" /><Relationship Type="http://schemas.openxmlformats.org/officeDocument/2006/relationships/notesSlide" Target="/ppt/notesSlides/notesSlide4.xml" Id="R4a488a7582624e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d9b27e1e246d4" /><Relationship Type="http://schemas.openxmlformats.org/officeDocument/2006/relationships/image" Target="/ppt/media/image2.png" Id="R21b0a6c14efe4ae0" /><Relationship Type="http://schemas.openxmlformats.org/officeDocument/2006/relationships/notesSlide" Target="/ppt/notesSlides/notesSlide5.xml" Id="R24abf4109bd944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1532fc70746f6" /><Relationship Type="http://schemas.openxmlformats.org/officeDocument/2006/relationships/image" Target="/ppt/media/image3.png" Id="R229b62561a2a4da0" /><Relationship Type="http://schemas.openxmlformats.org/officeDocument/2006/relationships/notesSlide" Target="/ppt/notesSlides/notesSlide6.xml" Id="R9bbbbad431ea4c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31fc8ae1d4fcd" /><Relationship Type="http://schemas.openxmlformats.org/officeDocument/2006/relationships/image" Target="/ppt/media/image4.png" Id="Rf2fe90eb5edf4733" /><Relationship Type="http://schemas.openxmlformats.org/officeDocument/2006/relationships/notesSlide" Target="/ppt/notesSlides/notesSlide7.xml" Id="Rb023d1159dd04e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021a9a41f44a4" /><Relationship Type="http://schemas.openxmlformats.org/officeDocument/2006/relationships/image" Target="/ppt/media/image5.png" Id="R55ff0457af044331" /><Relationship Type="http://schemas.openxmlformats.org/officeDocument/2006/relationships/notesSlide" Target="/ppt/notesSlides/notesSlide8.xml" Id="R62cfab036eba44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4aacb2d0f94d9c" /><Relationship Type="http://schemas.openxmlformats.org/officeDocument/2006/relationships/image" Target="/ppt/media/image6.png" Id="R2651fabe378a41d7" /><Relationship Type="http://schemas.openxmlformats.org/officeDocument/2006/relationships/notesSlide" Target="/ppt/notesSlides/notesSlide9.xml" Id="R1ad25a32955645e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2d9ae174184343" /><Relationship Type="http://schemas.openxmlformats.org/officeDocument/2006/relationships/notesSlide" Target="/ppt/notesSlides/notesSlide10.xml" Id="R77940f2d25314b3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4ebe0f8e3e4a07" /><Relationship Type="http://schemas.openxmlformats.org/officeDocument/2006/relationships/notesSlide" Target="/ppt/notesSlides/notesSlide11.xml" Id="R22eb3aeb6c6942d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0023840-77CC-4394-9A76-B93AE71D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CE147871-2DA3-4CDE-B362-9B3090A0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-1371600"/>
            <a:ext cx="5669280" cy="5669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1D1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3AB16DF7-6A38-4F49-B708-21EE6B45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-502920"/>
            <a:ext cx="3657600" cy="3657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27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32623C8B-7D67-4C4D-A2BD-8F8E0D10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85800"/>
            <a:ext cx="566928" cy="56692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D9FF55"/>
          </a:solidFill>
          <a:ln xmlns:a="http://schemas.openxmlformats.org/drawingml/2006/main" w="12700">
            <a:solidFill>
              <a:srgbClr val="D9FF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0A1005"/>
                </a:solidFill>
                <a:latin typeface="Arial"/>
                <a:ea typeface="Arial"/>
                <a:cs typeface="Arial"/>
              </a:rPr>
              <a:t>SP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03B983-98C1-4E89-9123-60141835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80467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SourcePilot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94C79B8-CEE2-475D-88BD-1446D8F6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8229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5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Spend the money.
</a:t>
            </a:r>
            <a:r>
              <a:rPr sz="52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Prove the limit.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39CA8D-81D3-40F1-A0C6-761E4C5C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703320"/>
            <a:ext cx="7498079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6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A procurement agent that spends company money inside a limit its owner signed </a:t>
            </a:r>
            <a:r>
              <a:rPr sz="1600" b="1">
                <a:solidFill>
                  <a:srgbClr val="E8EDF4"/>
                </a:solidFill>
                <a:latin typeface="Arial"/>
                <a:ea typeface="Arial"/>
                <a:cs typeface="Arial"/>
              </a:rPr>
              <a:t>cryptographically</a:t>
            </a:r>
            <a:r>
              <a:rPr sz="16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 — enforced on-chain, revocable in one transaction.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39B0DE1-202A-4D03-A9F5-C8DAB0AF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57800"/>
            <a:ext cx="2286000" cy="3840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0" rIns="109728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0">
                <a:solidFill>
                  <a:srgbClr val="E8EDF4"/>
                </a:solidFill>
                <a:latin typeface="Arial"/>
                <a:ea typeface="Arial"/>
                <a:cs typeface="Arial"/>
              </a:rPr>
              <a:t>Rain × Monad · NYC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B555ADF-7CDD-4DD6-82E6-77BEB8E5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57800"/>
            <a:ext cx="3931920" cy="3840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0" rIns="109728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D9FF55"/>
                </a:solidFill>
                <a:latin typeface="Arial"/>
                <a:ea typeface="Arial"/>
                <a:cs typeface="Arial"/>
              </a:rPr>
              <a:t>rain-agentic-sourcepilot.vercel.app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0D4FEDC-78D9-476C-A3D1-460AC1C6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257800"/>
            <a:ext cx="2377440" cy="3840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0" rIns="109728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0">
                <a:solidFill>
                  <a:srgbClr val="E8EDF4"/>
                </a:solidFill>
                <a:latin typeface="Arial"/>
                <a:ea typeface="Arial"/>
                <a:cs typeface="Arial"/>
              </a:rPr>
              <a:t>Monad Testnet · 10143</a:t>
            </a:r>
          </a:p>
        </p:txBody>
      </p:sp>
    </p:spTree>
    <p:extLst>
      <p:ext uri="{BB962C8B-B14F-4D97-AF65-F5344CB8AC3E}">
        <p14:creationId xmlns:p14="http://schemas.microsoft.com/office/powerpoint/2010/main" val="174730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BB549AE-89DA-4681-BA0A-A7FCE3A5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82291C-1652-46EE-B000-3640B40D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58368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D60AD2-ECBE-4DA3-B038-AAD33110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96012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Give an agent a corporate card and you have two bad options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4AF594F-EF5A-4F7F-B874-532E4CC7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4892040" cy="2286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83CB7B03-2791-443C-A661-8E197DCD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2860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6E79968-F390-4E95-83FA-BB90C67C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12848"/>
            <a:ext cx="4023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Hand over the card number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81F27F-D9E3-4C99-A710-A92004E8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43200"/>
            <a:ext cx="4343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2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The agent holds a 16-digit credential valid at every merchant on earth, for years.</a:t>
            </a:r>
          </a:p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2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You cannot say “these three suppliers, $1,840, ninety days.”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5EF1FD3-63E2-4FA8-A6EC-6FAF092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965960"/>
            <a:ext cx="4892040" cy="2286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3511669B-2495-4272-80D3-1E92B3D7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14BCFF2-D1CE-496E-A07A-0A6AB694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848"/>
            <a:ext cx="4023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Approve every purchase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E21DA55-DC05-4F8A-99BF-69BD63C7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743200"/>
            <a:ext cx="4343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2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Now you don’t have an agent. You have a form with extra steps.</a:t>
            </a:r>
          </a:p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2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Every payment waits on a human who isn’t in the room.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D6C757E-1017-4834-BCE2-44CA6260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17720"/>
            <a:ext cx="10104120" cy="123444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82011"/>
          </a:solidFill>
          <a:ln xmlns:a="http://schemas.openxmlformats.org/drawingml/2006/main" w="12700">
            <a:solidFill>
              <a:srgbClr val="3D4A1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562E7B2-3501-48FB-B4A2-F5462C3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892040"/>
            <a:ext cx="95097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The credential can express </a:t>
            </a:r>
            <a:r>
              <a:rPr sz="1400" b="1">
                <a:solidFill>
                  <a:srgbClr val="E8EDF4"/>
                </a:solidFill>
                <a:latin typeface="Arial"/>
                <a:ea typeface="Arial"/>
                <a:cs typeface="Arial"/>
              </a:rPr>
              <a:t>that an account exists</a:t>
            </a:r>
            <a:r>
              <a:rPr sz="14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 — not </a:t>
            </a:r>
            <a:r>
              <a:rPr sz="1400" b="1">
                <a:solidFill>
                  <a:srgbClr val="D9FF55"/>
                </a:solidFill>
                <a:latin typeface="Arial"/>
                <a:ea typeface="Arial"/>
                <a:cs typeface="Arial"/>
              </a:rPr>
              <a:t>what the agent is allowed to do</a:t>
            </a:r>
            <a:r>
              <a:rPr sz="14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That gap is the whole problem. SourcePilot closes it with a signature.</a:t>
            </a:r>
          </a:p>
        </p:txBody>
      </p:sp>
    </p:spTree>
    <p:extLst>
      <p:ext uri="{BB962C8B-B14F-4D97-AF65-F5344CB8AC3E}">
        <p14:creationId xmlns:p14="http://schemas.microsoft.com/office/powerpoint/2010/main" val="12582725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E2932E-03FE-472C-9C59-31E20162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6D38DC-B791-4287-B7F8-4EAA42AC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58368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HOW IT WORKS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072D747-60D4-4284-AD6C-F0CE67CE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960120"/>
            <a:ext cx="10241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One signature. Checked on-chain, every payment.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6CA67C5-C518-4A9B-9BF9-FC6EA612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4114800" cy="306324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FC47F80-A14C-4656-A73D-E9E77DFC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48840"/>
            <a:ext cx="3566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THE SIGNED MANDATE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ACF3E8-4CD0-4972-A4DD-1B740A8F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542032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Cumulative ceiling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E13165-2B87-4618-B1EC-0C45B7AF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42032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$1,840.00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B16790-BF92-4F0D-91FE-95CC9090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99232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Autonomous threshold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DAB7C8E-79EC-47DB-97B9-4B51B9B9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99232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$200.00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60C8D16-6AC6-458B-BC69-6A71B68A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56432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Deposit cap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15BE139-CECA-461A-AE71-BFB844C9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56432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30% of PO value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6C3EFC8-9DCD-40E9-B596-728E3E3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913631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Approved payees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7F1921B-F270-449F-BBE6-15717E45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913631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3 suppliers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222E9C3-3D96-4376-93D4-641364C4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370831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Validity window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8FAF192-BC10-404C-AD8D-0CD8426E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70831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90 days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02F356C-B3CB-4243-AD8C-796821C1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920240"/>
            <a:ext cx="5623560" cy="306324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906CA06-9909-4C01-ACA6-56A547C8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148840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EVERY PAYMENT TAKES THIS PATH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D17472F-BC63-4635-8EE6-E4D5A576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560320"/>
            <a:ext cx="310896" cy="310896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836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9AA9B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A09FB0-C8E8-4DCF-AA92-50DF7583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569463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Off-chain sourcing checks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FAE1444-9BA8-4B3E-B1AB-FFFCE322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862072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lead time · spec match · completeness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F3B9A78-0B4D-4379-98F2-239AF117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401568"/>
            <a:ext cx="310896" cy="310896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D9FF55"/>
          </a:solidFill>
          <a:ln xmlns:a="http://schemas.openxmlformats.org/drawingml/2006/main" w="12700">
            <a:solidFill>
              <a:srgbClr val="D9FF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0A100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E2037FF-58AC-458E-92E8-A61592E3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410711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MandateRegistry.record() on Monad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547D514-C194-4188-B4EE-74BCFC37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703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ceiling · payee scope · window · revocation · deposit cap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04658D40-BD57-4CAA-BBA3-38CC35DC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4242816"/>
            <a:ext cx="310896" cy="310896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836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9AA9B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572DD27-EE86-4F81-B368-0DECE79B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251959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Payment processor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D52F8B6-851B-425B-8700-F1E3B002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544568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reached only if the contract did not revert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445F92E-75AF-44F0-861C-6D432174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30368"/>
            <a:ext cx="10104120" cy="9601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82011"/>
          </a:solidFill>
          <a:ln xmlns:a="http://schemas.openxmlformats.org/drawingml/2006/main" w="12700">
            <a:solidFill>
              <a:srgbClr val="3D4A1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E872FD0F-A352-49E9-BEF8-3EE7B1A7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431536"/>
            <a:ext cx="9509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350" b="1">
                <a:solidFill>
                  <a:srgbClr val="8A9CB5"/>
                </a:solidFill>
                <a:latin typeface="Arial"/>
                <a:ea typeface="Arial"/>
                <a:cs typeface="Arial"/>
              </a:rPr>
              <a:t>“What breaks if you delete the server’s call to the contract?”  </a:t>
            </a:r>
            <a:r>
              <a:rPr sz="1350" b="1">
                <a:solidFill>
                  <a:srgbClr val="E8EDF4"/>
                </a:solidFill>
                <a:latin typeface="Arial"/>
                <a:ea typeface="Arial"/>
                <a:cs typeface="Arial"/>
              </a:rPr>
              <a:t>The payment loses its authorization and the ceiling stops decrementing.</a:t>
            </a:r>
          </a:p>
        </p:txBody>
      </p:sp>
    </p:spTree>
    <p:extLst>
      <p:ext uri="{BB962C8B-B14F-4D97-AF65-F5344CB8AC3E}">
        <p14:creationId xmlns:p14="http://schemas.microsoft.com/office/powerpoint/2010/main" val="7936529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1">
            <a:extLst xmlns:a="http://schemas.openxmlformats.org/drawingml/2006/main">
              <a:ext uri="{FF2B5EF4-FFF2-40B4-BE49-F238E27FC236}">
                <a16:creationId xmlns:a16="http://schemas.microsoft.com/office/drawing/2014/main" id="{7898AD71-29C6-4540-91F2-7C0BF42D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1">
            <a:extLst xmlns:a="http://schemas.openxmlformats.org/drawingml/2006/main">
              <a:ext uri="{FF2B5EF4-FFF2-40B4-BE49-F238E27FC236}">
                <a16:creationId xmlns:a16="http://schemas.microsoft.com/office/drawing/2014/main" id="{B1ECD424-A406-4FA3-9791-65A2A002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DEMO · 01</a:t>
            </a:r>
          </a:p>
        </p:txBody>
      </p:sp>
      <p:sp>
        <p:nvSpPr>
          <p:cNvPr id="3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B490851F-AAD5-4CCE-871F-B41D8613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Compare suppliers</a:t>
            </a:r>
          </a:p>
        </p:txBody>
      </p:sp>
      <p:sp>
        <p:nvSpPr>
          <p:cNvPr id="4" name="evidence-subtitle-1">
            <a:extLst xmlns:a="http://schemas.openxmlformats.org/drawingml/2006/main">
              <a:ext uri="{FF2B5EF4-FFF2-40B4-BE49-F238E27FC236}">
                <a16:creationId xmlns:a16="http://schemas.microsoft.com/office/drawing/2014/main" id="{9F5B7CF6-F56C-46D6-9F2A-A8737B1E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The agent ranks the complete terms — not just the lowest unit price.</a:t>
            </a:r>
          </a:p>
        </p:txBody>
      </p:sp>
      <p:sp>
        <p:nvSpPr>
          <p:cNvPr id="5" name="evidence-frame-1">
            <a:extLst xmlns:a="http://schemas.openxmlformats.org/drawingml/2006/main">
              <a:ext uri="{FF2B5EF4-FFF2-40B4-BE49-F238E27FC236}">
                <a16:creationId xmlns:a16="http://schemas.microsoft.com/office/drawing/2014/main" id="{5E64EF67-DDF5-479C-99EE-96F08464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4" name="evidence-image-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a1e373b0e4dcb"/>
          <a:srcRect xmlns:a="http://schemas.openxmlformats.org/drawingml/2006/main" l="0" t="26919" r="0" b="269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33550"/>
            <a:ext cx="10629900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14766150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2">
            <a:extLst xmlns:a="http://schemas.openxmlformats.org/drawingml/2006/main">
              <a:ext uri="{FF2B5EF4-FFF2-40B4-BE49-F238E27FC236}">
                <a16:creationId xmlns:a16="http://schemas.microsoft.com/office/drawing/2014/main" id="{03997737-7A0E-4394-B179-29A26CA2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2">
            <a:extLst xmlns:a="http://schemas.openxmlformats.org/drawingml/2006/main">
              <a:ext uri="{FF2B5EF4-FFF2-40B4-BE49-F238E27FC236}">
                <a16:creationId xmlns:a16="http://schemas.microsoft.com/office/drawing/2014/main" id="{B4ED7EFE-3D3F-437B-94AE-CD22FB17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DEMO · 02</a:t>
            </a:r>
          </a:p>
        </p:txBody>
      </p:sp>
      <p:sp>
        <p:nvSpPr>
          <p:cNvPr id="3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2F3EDBA3-E69C-49DB-95D5-03581782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Stop at the approval boundary</a:t>
            </a:r>
          </a:p>
        </p:txBody>
      </p:sp>
      <p:sp>
        <p:nvSpPr>
          <p:cNvPr id="4" name="evidence-subtitle-2">
            <a:extLst xmlns:a="http://schemas.openxmlformats.org/drawingml/2006/main">
              <a:ext uri="{FF2B5EF4-FFF2-40B4-BE49-F238E27FC236}">
                <a16:creationId xmlns:a16="http://schemas.microsoft.com/office/drawing/2014/main" id="{75FA4746-89DA-4D01-8994-D325ECD6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The signed mandate makes the agent's authority explicit before any payment side effect.</a:t>
            </a:r>
          </a:p>
        </p:txBody>
      </p:sp>
      <p:sp>
        <p:nvSpPr>
          <p:cNvPr id="5" name="evidence-frame-2">
            <a:extLst xmlns:a="http://schemas.openxmlformats.org/drawingml/2006/main">
              <a:ext uri="{FF2B5EF4-FFF2-40B4-BE49-F238E27FC236}">
                <a16:creationId xmlns:a16="http://schemas.microsoft.com/office/drawing/2014/main" id="{AC79C44C-F32C-47BA-A4AA-268F97E9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4" name="evidence-image-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b0a6c14efe4ae0"/>
          <a:srcRect xmlns:a="http://schemas.openxmlformats.org/drawingml/2006/main" l="0" t="28005" r="0" b="280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33550"/>
            <a:ext cx="10629900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96153798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3">
            <a:extLst xmlns:a="http://schemas.openxmlformats.org/drawingml/2006/main">
              <a:ext uri="{FF2B5EF4-FFF2-40B4-BE49-F238E27FC236}">
                <a16:creationId xmlns:a16="http://schemas.microsoft.com/office/drawing/2014/main" id="{391028B0-3F94-4F91-BAF4-52C73E1C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3">
            <a:extLst xmlns:a="http://schemas.openxmlformats.org/drawingml/2006/main">
              <a:ext uri="{FF2B5EF4-FFF2-40B4-BE49-F238E27FC236}">
                <a16:creationId xmlns:a16="http://schemas.microsoft.com/office/drawing/2014/main" id="{F56EB157-1161-41EB-87E6-F1D7A3E3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MONAD · 01</a:t>
            </a:r>
          </a:p>
        </p:txBody>
      </p:sp>
      <p:sp>
        <p:nvSpPr>
          <p:cNvPr id="3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C382A94C-7070-4AA6-A604-D58F66E0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Public contract evidence</a:t>
            </a:r>
          </a:p>
        </p:txBody>
      </p:sp>
      <p:sp>
        <p:nvSpPr>
          <p:cNvPr id="4" name="evidence-subtitle-3">
            <a:extLst xmlns:a="http://schemas.openxmlformats.org/drawingml/2006/main">
              <a:ext uri="{FF2B5EF4-FFF2-40B4-BE49-F238E27FC236}">
                <a16:creationId xmlns:a16="http://schemas.microsoft.com/office/drawing/2014/main" id="{67CF98C1-7886-4176-9186-D7B7434B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One Monad testnet registry, with creation, spend-recording, and revocation visible together.</a:t>
            </a:r>
          </a:p>
        </p:txBody>
      </p:sp>
      <p:sp>
        <p:nvSpPr>
          <p:cNvPr id="5" name="evidence-frame-3">
            <a:extLst xmlns:a="http://schemas.openxmlformats.org/drawingml/2006/main">
              <a:ext uri="{FF2B5EF4-FFF2-40B4-BE49-F238E27FC236}">
                <a16:creationId xmlns:a16="http://schemas.microsoft.com/office/drawing/2014/main" id="{BEA38126-F55C-4217-9EB5-E3933357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4" name="evidence-image-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9b62561a2a4da0"/>
          <a:stretch xmlns:a="http://schemas.openxmlformats.org/drawingml/2006/main"/>
        </p:blipFill>
        <p:spPr>
          <a:xfrm xmlns:a="http://schemas.openxmlformats.org/drawingml/2006/main">
            <a:off x="1728858" y="1733550"/>
            <a:ext cx="8734284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89751491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4">
            <a:extLst xmlns:a="http://schemas.openxmlformats.org/drawingml/2006/main">
              <a:ext uri="{FF2B5EF4-FFF2-40B4-BE49-F238E27FC236}">
                <a16:creationId xmlns:a16="http://schemas.microsoft.com/office/drawing/2014/main" id="{11767F44-5D3C-4B04-B78C-823C88DD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4">
            <a:extLst xmlns:a="http://schemas.openxmlformats.org/drawingml/2006/main">
              <a:ext uri="{FF2B5EF4-FFF2-40B4-BE49-F238E27FC236}">
                <a16:creationId xmlns:a16="http://schemas.microsoft.com/office/drawing/2014/main" id="{6E176257-D6D8-442C-8567-7D1A91BD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MONAD · 02</a:t>
            </a:r>
          </a:p>
        </p:txBody>
      </p:sp>
      <p:sp>
        <p:nvSpPr>
          <p:cNvPr id="3" name="evidence-title-4">
            <a:extLst xmlns:a="http://schemas.openxmlformats.org/drawingml/2006/main">
              <a:ext uri="{FF2B5EF4-FFF2-40B4-BE49-F238E27FC236}">
                <a16:creationId xmlns:a16="http://schemas.microsoft.com/office/drawing/2014/main" id="{01086DB1-4D6B-4A28-97A6-8C9B71D2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Spend recorded on-chain</a:t>
            </a:r>
          </a:p>
        </p:txBody>
      </p:sp>
      <p:sp>
        <p:nvSpPr>
          <p:cNvPr id="4" name="evidence-subtitle-4">
            <a:extLst xmlns:a="http://schemas.openxmlformats.org/drawingml/2006/main">
              <a:ext uri="{FF2B5EF4-FFF2-40B4-BE49-F238E27FC236}">
                <a16:creationId xmlns:a16="http://schemas.microsoft.com/office/drawing/2014/main" id="{0869FC4D-3F4A-4BBA-BD17-7188FE8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The successful transaction is immutable evidence that the mandate's remaining ceiling changed.</a:t>
            </a:r>
          </a:p>
        </p:txBody>
      </p:sp>
      <p:sp>
        <p:nvSpPr>
          <p:cNvPr id="5" name="evidence-frame-4">
            <a:extLst xmlns:a="http://schemas.openxmlformats.org/drawingml/2006/main">
              <a:ext uri="{FF2B5EF4-FFF2-40B4-BE49-F238E27FC236}">
                <a16:creationId xmlns:a16="http://schemas.microsoft.com/office/drawing/2014/main" id="{87E04674-2B8B-44B5-AE24-B5B102AC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4" name="evidence-image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e90eb5edf4733"/>
          <a:srcRect xmlns:a="http://schemas.openxmlformats.org/drawingml/2006/main" l="0" t="25712" r="0" b="25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33550"/>
            <a:ext cx="10629900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9908435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5">
            <a:extLst xmlns:a="http://schemas.openxmlformats.org/drawingml/2006/main">
              <a:ext uri="{FF2B5EF4-FFF2-40B4-BE49-F238E27FC236}">
                <a16:creationId xmlns:a16="http://schemas.microsoft.com/office/drawing/2014/main" id="{2E3C06FE-37C7-47D0-98F9-7D994E58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5">
            <a:extLst xmlns:a="http://schemas.openxmlformats.org/drawingml/2006/main">
              <a:ext uri="{FF2B5EF4-FFF2-40B4-BE49-F238E27FC236}">
                <a16:creationId xmlns:a16="http://schemas.microsoft.com/office/drawing/2014/main" id="{742A29AC-1834-4184-B0A1-4657463B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MONAD · 03</a:t>
            </a:r>
          </a:p>
        </p:txBody>
      </p:sp>
      <p:sp>
        <p:nvSpPr>
          <p:cNvPr id="3" name="evidence-title-5">
            <a:extLst xmlns:a="http://schemas.openxmlformats.org/drawingml/2006/main">
              <a:ext uri="{FF2B5EF4-FFF2-40B4-BE49-F238E27FC236}">
                <a16:creationId xmlns:a16="http://schemas.microsoft.com/office/drawing/2014/main" id="{699DE518-A70F-4CF5-AEF8-868EE6A5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Authority revoked on-chain</a:t>
            </a:r>
          </a:p>
        </p:txBody>
      </p:sp>
      <p:sp>
        <p:nvSpPr>
          <p:cNvPr id="4" name="evidence-subtitle-5">
            <a:extLst xmlns:a="http://schemas.openxmlformats.org/drawingml/2006/main">
              <a:ext uri="{FF2B5EF4-FFF2-40B4-BE49-F238E27FC236}">
                <a16:creationId xmlns:a16="http://schemas.microsoft.com/office/drawing/2014/main" id="{8CBD48EF-16F3-4A7D-8F4E-C73B74E2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Revocation is a state transition, not an application toggle — later authorization attempts fail.</a:t>
            </a:r>
          </a:p>
        </p:txBody>
      </p:sp>
      <p:sp>
        <p:nvSpPr>
          <p:cNvPr id="5" name="evidence-frame-5">
            <a:extLst xmlns:a="http://schemas.openxmlformats.org/drawingml/2006/main">
              <a:ext uri="{FF2B5EF4-FFF2-40B4-BE49-F238E27FC236}">
                <a16:creationId xmlns:a16="http://schemas.microsoft.com/office/drawing/2014/main" id="{3C82188C-46F6-4251-A670-C759B0DF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4" name="evidence-image-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f0457af044331"/>
          <a:srcRect xmlns:a="http://schemas.openxmlformats.org/drawingml/2006/main" l="0" t="25665" r="0" b="25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33550"/>
            <a:ext cx="10629900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28187270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6">
            <a:extLst xmlns:a="http://schemas.openxmlformats.org/drawingml/2006/main">
              <a:ext uri="{FF2B5EF4-FFF2-40B4-BE49-F238E27FC236}">
                <a16:creationId xmlns:a16="http://schemas.microsoft.com/office/drawing/2014/main" id="{ED42466D-E6E8-467B-BED2-C07FA16B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6">
            <a:extLst xmlns:a="http://schemas.openxmlformats.org/drawingml/2006/main">
              <a:ext uri="{FF2B5EF4-FFF2-40B4-BE49-F238E27FC236}">
                <a16:creationId xmlns:a16="http://schemas.microsoft.com/office/drawing/2014/main" id="{283E9EBC-841F-4877-B163-CDE389BB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RAIN · SANDBOX</a:t>
            </a:r>
          </a:p>
        </p:txBody>
      </p:sp>
      <p:sp>
        <p:nvSpPr>
          <p:cNvPr id="3" name="evidence-title-6">
            <a:extLst xmlns:a="http://schemas.openxmlformats.org/drawingml/2006/main">
              <a:ext uri="{FF2B5EF4-FFF2-40B4-BE49-F238E27FC236}">
                <a16:creationId xmlns:a16="http://schemas.microsoft.com/office/drawing/2014/main" id="{B39F3AE6-B5AC-4B27-B0FB-74039796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Live Rain scoped card</a:t>
            </a:r>
          </a:p>
        </p:txBody>
      </p:sp>
      <p:sp>
        <p:nvSpPr>
          <p:cNvPr id="4" name="evidence-subtitle-6">
            <a:extLst xmlns:a="http://schemas.openxmlformats.org/drawingml/2006/main">
              <a:ext uri="{FF2B5EF4-FFF2-40B4-BE49-F238E27FC236}">
                <a16:creationId xmlns:a16="http://schemas.microsoft.com/office/drawing/2014/main" id="{0ED0DBE7-E55B-460C-99FB-E1F6046F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A live authenticated API read returns an active sandbox card; payment execution remains mocked.</a:t>
            </a:r>
          </a:p>
        </p:txBody>
      </p:sp>
      <p:sp>
        <p:nvSpPr>
          <p:cNvPr id="5" name="evidence-frame-6">
            <a:extLst xmlns:a="http://schemas.openxmlformats.org/drawingml/2006/main">
              <a:ext uri="{FF2B5EF4-FFF2-40B4-BE49-F238E27FC236}">
                <a16:creationId xmlns:a16="http://schemas.microsoft.com/office/drawing/2014/main" id="{BE3B55C5-EEF4-41AE-B82A-DC0D74C5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4" name="evidence-image-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1fabe378a41d7"/>
          <a:srcRect xmlns:a="http://schemas.openxmlformats.org/drawingml/2006/main" l="3000" t="50000" r="3000" b="0"/>
          <a:stretch xmlns:a="http://schemas.openxmlformats.org/drawingml/2006/main"/>
        </p:blipFill>
        <p:spPr>
          <a:xfrm xmlns:a="http://schemas.openxmlformats.org/drawingml/2006/main" flipH="0" flipV="0">
            <a:off x="781050" y="2478369"/>
            <a:ext cx="10629900" cy="292996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2101667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778AC56-A020-4F4B-8EC9-E333EF63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EADF48-D880-4769-B8A2-13394F7A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58368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PROOF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F34F624-32A1-4B9F-9E44-C24674A6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960120"/>
            <a:ext cx="10241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Not a diagram. Four public transactions.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ACF50DA2-73ED-48E6-9804-F805318E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93392"/>
            <a:ext cx="6949440" cy="7315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A0A742D0-4639-4FE2-826B-CBA8F2B0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29514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9B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2EB9DAC-D611-4785-8AF7-DD59E0D9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13055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Registry deployed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C62785E-2586-41B7-83F3-FFAE73FE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404872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block 52019868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4E33EA-788E-46BC-9F3F-27FC6787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24942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" b="1" i="0">
                <a:solidFill>
                  <a:srgbClr val="9AA9BE"/>
                </a:solidFill>
                <a:latin typeface="Courier New"/>
                <a:ea typeface="Courier New"/>
                <a:cs typeface="Courier New"/>
              </a:rPr>
              <a:t>0x4fba…4a41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DB54F6D-7332-4900-80AF-F7134038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816352"/>
            <a:ext cx="6949440" cy="7315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D89008D-BD9F-4D92-87A3-14B386E5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11810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9B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523B2A-9DBA-402C-A8A3-038E8BD8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95351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Mandate created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8FD5A59-7222-4868-A48F-83D9D4B0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227832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digest recomputed on-chain from 12 signed fields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F026A78-ED67-46DE-87DB-2ED2FFEB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07238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" b="1" i="0">
                <a:solidFill>
                  <a:srgbClr val="9AA9BE"/>
                </a:solidFill>
                <a:latin typeface="Courier New"/>
                <a:ea typeface="Courier New"/>
                <a:cs typeface="Courier New"/>
              </a:rPr>
              <a:t>0x6883…1688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2DAAC75-B15B-4977-9AFC-EDC007A9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9312"/>
            <a:ext cx="6949440" cy="7315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3949C50F-CA26-4367-8B2D-EA689305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941063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FF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DD12585-CD2E-44D8-850C-2B5166C3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77647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$180 sample recorded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37A5583-A8B9-4DF3-A8CE-099E89AE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050791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spent 18000 → remaining 166000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D6AA740-33F4-4157-9E44-9F09AAB0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89534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" b="1" i="0">
                <a:solidFill>
                  <a:srgbClr val="D9FF55"/>
                </a:solidFill>
                <a:latin typeface="Courier New"/>
                <a:ea typeface="Courier New"/>
                <a:cs typeface="Courier New"/>
              </a:rPr>
              <a:t>0xb690…f098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0A4A759-4513-45ED-98A6-9B8B061C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62272"/>
            <a:ext cx="6949440" cy="7315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F9C28C3A-ECD8-4915-BA71-6A998455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7640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93AC740-305E-4847-8B06-5D4C4A84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59943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Mandate revoked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F9F3407-851F-4AA3-8596-F1CA8EE9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873752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every later payment reverts Revoked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18816DE-0628-4A30-BA85-C0B5E11E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7183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" b="1" i="0">
                <a:solidFill>
                  <a:srgbClr val="FB7185"/>
                </a:solidFill>
                <a:latin typeface="Courier New"/>
                <a:ea typeface="Courier New"/>
                <a:cs typeface="Courier New"/>
              </a:rPr>
              <a:t>0x48b5…3ded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A1E58990-A693-4F9F-89E8-57235622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3392"/>
            <a:ext cx="2880360" cy="8412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D7BACB15-440B-4160-8C9F-58A32941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093976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208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4706040-0176-492D-996C-9908C39C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267712"/>
            <a:ext cx="1554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tests passing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30B9E128-521C-4034-8342-2D8563F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17520"/>
            <a:ext cx="2880360" cy="8412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BCC16B7D-6CB7-42A0-93F4-8427E43B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118104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7B61565-B945-456F-B046-9A5DF91D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91840"/>
            <a:ext cx="1554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Foundry contract tests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9E739526-14DC-43FA-AAA1-F62DF317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1648"/>
            <a:ext cx="2880360" cy="8412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E739D60B-DF7B-4996-9D10-8CD8F8B2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142232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4ADE8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0FF99210-A1C0-4B35-9E58-D83DDAF8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15968"/>
            <a:ext cx="1554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processor calls when blocked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AC97D035-9579-416E-A5C0-DC60C0C9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5776"/>
            <a:ext cx="2880360" cy="65836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836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BA4130E9-D87E-4B7A-AB17-32E2DFC3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184648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REGISTRY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EBED7863-7E41-4170-8F2C-2BDA414C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404104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Courier New"/>
                <a:ea typeface="Courier New"/>
                <a:cs typeface="Courier New"/>
              </a:rPr>
              <a:t>0x9553c5…dbf1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3CC8BD3-DC57-4871-B24C-87579EB8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6949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Every figure re-checkable: </a:t>
            </a:r>
            <a:r>
              <a:rPr sz="115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pnpm verify:claims</a:t>
            </a:r>
            <a:r>
              <a:rPr sz="11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  ·  output/monad/deployment.json</a:t>
            </a:r>
          </a:p>
        </p:txBody>
      </p:sp>
    </p:spTree>
    <p:extLst>
      <p:ext uri="{BB962C8B-B14F-4D97-AF65-F5344CB8AC3E}">
        <p14:creationId xmlns:p14="http://schemas.microsoft.com/office/powerpoint/2010/main" val="176161231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C7D062-8740-41D3-82BD-72679040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6E5BEC-2B43-4636-AC5E-1E8D82EE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58368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THE BOUNDARY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CEB04B5-14C4-4C5D-85CB-4DFBBBD5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960120"/>
            <a:ext cx="10241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What we enforce — and what we don’t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EF81E7D-1C7D-40C4-A05B-12BDB8F4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4892040" cy="27432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50A366B-6390-425C-946A-61C2E50A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212848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4ADE80"/>
                </a:solidFill>
                <a:latin typeface="Arial"/>
                <a:ea typeface="Arial"/>
                <a:cs typeface="Arial"/>
              </a:rPr>
              <a:t>ENFORCED BY THE CONTRACT</a:t>
            </a:r>
          </a:p>
        </p:txBody>
      </p:sp>
      <p:sp>
        <p:nvSpPr>
          <p:cNvPr id="7" name="Oval 6">
            <a:extLst xmlns:a="http://schemas.openxmlformats.org/drawingml/2006/main">
              <a:ext uri="{FF2B5EF4-FFF2-40B4-BE49-F238E27FC236}">
                <a16:creationId xmlns:a16="http://schemas.microsoft.com/office/drawing/2014/main" id="{58D13E85-B666-4E5B-BB0F-ACEA2485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6090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85616A3-0EFC-43B1-809F-0A95642B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87752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Cumulative spending ceiling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07E1319D-6ACF-4167-9E94-EC9BDE73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6324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310C5B9-CD56-4A9D-8AEF-04DBC14D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90088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Approved-payee scope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A4EC2AA3-DDE0-4F2B-A5DE-44FF6F21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655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335B7DD-D329-4B7F-B52E-65DCFD4F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392424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Validity window</a:t>
            </a: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2E8E337C-04E1-4792-8A2B-2B1D6BC8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67911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63E03B6-A86B-4144-B33E-C143B4BE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7947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Revocation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41DEC92B-1FB5-48D8-889B-03597972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70248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A43DA89-A7D3-4F37-8B02-805F5AF0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197096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Deposit cap, via an approval
signature verified on-chain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7C9F38F-C8F6-4C58-9769-C3CEC588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965960"/>
            <a:ext cx="4892040" cy="27432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5F1A653-6EF5-4D25-AB6F-2B2CF22A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12848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FB7185"/>
                </a:solidFill>
                <a:latin typeface="Arial"/>
                <a:ea typeface="Arial"/>
                <a:cs typeface="Arial"/>
              </a:rPr>
              <a:t>NOT ENFORCED — AND WE SAY SO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A41917CB-7E72-475E-84DB-16AA03FF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6090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224E462-2B2D-425F-BD2F-3116564C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587752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Whether the signed PO value matches
the real invoice. No contract can.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5891B326-7F0C-4D0B-A6CC-EECDCF68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2783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CB85F0C-E4FD-4471-8333-E39FAD9B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154680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Supplier verification. Out of scope,
and we don’t claim it.</a:t>
            </a:r>
          </a:p>
        </p:txBody>
      </p:sp>
      <p:sp>
        <p:nvSpPr>
          <p:cNvPr id="23" name="Oval 22">
            <a:extLst xmlns:a="http://schemas.openxmlformats.org/drawingml/2006/main">
              <a:ext uri="{FF2B5EF4-FFF2-40B4-BE49-F238E27FC236}">
                <a16:creationId xmlns:a16="http://schemas.microsoft.com/office/drawing/2014/main" id="{49D58B91-9ACF-4F41-A2BC-12F4F936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794759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77D094F-94AA-4E44-A1E1-3292D504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721608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Rain sandbox authentication is live.
No live issuance or settlement.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6A300827-5EDE-4115-9A58-0EE17627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029200"/>
            <a:ext cx="10104120" cy="105156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82011"/>
          </a:solidFill>
          <a:ln xmlns:a="http://schemas.openxmlformats.org/drawingml/2006/main" w="12700">
            <a:solidFill>
              <a:srgbClr val="3D4A1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5ECB08C-3861-4A67-A674-B0A15ED7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257800"/>
            <a:ext cx="9509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3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Live Rain GET: HTTP 200. For blocked payments, </a:t>
            </a:r>
            <a:r>
              <a:rPr sz="1350" b="1">
                <a:solidFill>
                  <a:srgbClr val="D9FF55"/>
                </a:solidFill>
                <a:latin typeface="Arial"/>
                <a:ea typeface="Arial"/>
                <a:cs typeface="Arial"/>
              </a:rPr>
              <a:t>MockRainAdapter.calls = 0</a:t>
            </a:r>
            <a:r>
              <a:rPr sz="13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 — Monad remains the gate before mock execution.</a:t>
            </a:r>
          </a:p>
        </p:txBody>
      </p:sp>
    </p:spTree>
    <p:extLst>
      <p:ext uri="{BB962C8B-B14F-4D97-AF65-F5344CB8AC3E}">
        <p14:creationId xmlns:p14="http://schemas.microsoft.com/office/powerpoint/2010/main" val="54136775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2026-08-09T14:45:11.6340000Z</dcterms:created>
  <dcterms:modified xsi:type="dcterms:W3CDTF">2026-08-09T14:45:11.6340000Z</dcterms:modified>
</coreProperties>
</file>
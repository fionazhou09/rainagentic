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8986f7ab54470e" /><Relationship Type="http://schemas.openxmlformats.org/officeDocument/2006/relationships/extended-properties" Target="/docProps/app.xml" Id="R2549db5973c14d92" /><Relationship Type="http://schemas.openxmlformats.org/officeDocument/2006/relationships/officeDocument" Target="/ppt/presentation.xml" Id="R1972695819fa4a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aac04ddd6043ba"/>
  </p:sldMasterIdLst>
  <p:notesMasterIdLst>
    <p:notesMasterId xmlns:r="http://schemas.openxmlformats.org/officeDocument/2006/relationships" r:id="R3fad5ee7ebe1417b"/>
  </p:notesMasterIdLst>
  <p:sldIdLst>
    <p:sldId xmlns:r="http://schemas.openxmlformats.org/officeDocument/2006/relationships" id="256" r:id="R81ad6e3926fb4c08"/>
    <p:sldId xmlns:r="http://schemas.openxmlformats.org/officeDocument/2006/relationships" id="257" r:id="R27010ebc64d04000"/>
    <p:sldId xmlns:r="http://schemas.openxmlformats.org/officeDocument/2006/relationships" id="258" r:id="R300ddfca2a36421b"/>
    <p:sldId xmlns:r="http://schemas.openxmlformats.org/officeDocument/2006/relationships" id="259" r:id="Rb3d92ee2bf6f47b4"/>
    <p:sldId xmlns:r="http://schemas.openxmlformats.org/officeDocument/2006/relationships" id="260" r:id="Raae87d7955834979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1607330dbd4f87" /><Relationship Type="http://schemas.openxmlformats.org/officeDocument/2006/relationships/slideMaster" Target="/ppt/slideMasters/slideMaster1.xml" Id="Rfaaac04ddd6043ba" /><Relationship Type="http://schemas.openxmlformats.org/officeDocument/2006/relationships/notesMaster" Target="/ppt/notesMasters/notesMaster1.xml" Id="R3fad5ee7ebe1417b" /><Relationship Type="http://schemas.openxmlformats.org/officeDocument/2006/relationships/presProps" Target="/ppt/presProps.xml" Id="R95b4f3ce9b4440fe" /><Relationship Type="http://schemas.openxmlformats.org/officeDocument/2006/relationships/viewProps" Target="/ppt/viewProps.xml" Id="Rad04ce2c87994e86" /><Relationship Type="http://schemas.openxmlformats.org/officeDocument/2006/relationships/tableStyles" Target="/ppt/tableStyles.xml" Id="R6e04aa9d5f8948d3" /><Relationship Type="http://schemas.openxmlformats.org/officeDocument/2006/relationships/slide" Target="/ppt/slides/slide1.xml" Id="R81ad6e3926fb4c08" /><Relationship Type="http://schemas.openxmlformats.org/officeDocument/2006/relationships/slide" Target="/ppt/slides/slide2.xml" Id="R27010ebc64d04000" /><Relationship Type="http://schemas.openxmlformats.org/officeDocument/2006/relationships/slide" Target="/ppt/slides/slide3.xml" Id="R300ddfca2a36421b" /><Relationship Type="http://schemas.openxmlformats.org/officeDocument/2006/relationships/slide" Target="/ppt/slides/slide4.xml" Id="Rb3d92ee2bf6f47b4" /><Relationship Type="http://schemas.openxmlformats.org/officeDocument/2006/relationships/slide" Target="/ppt/slides/slide5.xml" Id="Raae87d79558349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369c4f134d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27c3ae27f44b33" /><Relationship Type="http://schemas.openxmlformats.org/officeDocument/2006/relationships/notesMaster" Target="/ppt/notesMasters/notesMaster1.xml" Id="R754fe7d6f86c45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1f163c2a6246a4" /><Relationship Type="http://schemas.openxmlformats.org/officeDocument/2006/relationships/notesMaster" Target="/ppt/notesMasters/notesMaster1.xml" Id="Rcd0dec480d9e4a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f127d2f679428d" /><Relationship Type="http://schemas.openxmlformats.org/officeDocument/2006/relationships/notesMaster" Target="/ppt/notesMasters/notesMaster1.xml" Id="R979958f709c345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79778b627b4c48" /><Relationship Type="http://schemas.openxmlformats.org/officeDocument/2006/relationships/notesMaster" Target="/ppt/notesMasters/notesMaster1.xml" Id="R8e1ef18780214c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2784de478f4f31" /><Relationship Type="http://schemas.openxmlformats.org/officeDocument/2006/relationships/notesMaster" Target="/ppt/notesMasters/notesMaster1.xml" Id="R5eb46895b1b34b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 seconds. Name it, then go straight to the problem. Do not read the URL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Twenty-five seconds. Say it as a scene, not a market claim. The lime line is the thesis — pause after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Fifty seconds. Step 2 is the slide. The contract is a gate, not a log. The quoted question is the Monad bounty question — answer it before it's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Forty seconds. Open one of these in the explorer if the room is engaged. The remaining-166000 line is the ceiling actually decrementing — that is the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Twenty-five seconds, and do not rush it. Naming the seam before judges find it is the strongest move in the deck. Four Rain employees are in the room; the simulated line must come from you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b80707dfa47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8cbc9b77d41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2f27bf35148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f3e2b19814a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f21d86e9c41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188c0bba44f9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fcd8584c6430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6086d8d65489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5979022da4f6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48231f0d749b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32d02476d4f9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3826AB-160E-4E09-80EB-47BD80A18D0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A07A4A5-7032-4931-95CE-8D216C3CDD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4DDC6C-8A2D-4197-B245-0A3D21EC55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B3D0FF-968C-40C7-BA5B-BBF518F11C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082914-7A3B-45FA-9C6D-784ED00562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4573BC-86EF-4210-9E42-3428D9577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AF8FC1F-7A68-445C-908C-5124A138D6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53F734-535E-4544-9ECF-C71CA44E53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54666D-AFF0-4D40-BCD6-D7B961586A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CE8843-EA96-4028-BCFF-B95227BAB3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97EAC0-D9D8-4B44-BE6A-E8BC78F9F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08BCB8-6E5C-41EE-AD6B-BC6D12BA1F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3254BD-E2EB-4C07-96CC-A6717E8EFE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39219F-F72C-49AE-86C6-3C4E4E4068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EEE7B-E91E-461F-BBCB-C24DCABC1D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5163FF-FC7B-41F2-B80D-AA16B55D33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8EED26-F276-4D84-A0D6-820A71E04AD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F4C49C2-7F71-4165-9B08-415974CEDA9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5B8D1F-8094-4B66-AB63-A6C4E9FA88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DD5F9-1123-4460-BAB4-A8206E1969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9B1965-A25E-4222-A032-5BBEAEC84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FAAC72-AB65-46A8-BB3B-614C65BE4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A97D08-4CD7-4D93-B181-BF88F5AD85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A1F5930-B373-4C7D-943A-250DA15809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FE7DE91-1D76-4BD1-9678-49FFE84BDC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5D2F497-2795-4A8D-B834-72B2ECC4A0B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E621673-D617-4757-9176-47DF70F333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E632240-9A33-4F3C-B1B7-A62802A22F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5B0A243-133B-45E5-932F-43C6F4664F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24E878-FE20-44F1-AFDC-BD002F0273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2AFEBF2-016C-4CC3-ADBC-E18EDF3D53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9F0DFEE-AD1E-462A-B377-48D8E58E10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3DCF1FF-1F03-4C20-831F-CB7649CE89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1DDA08-8DA2-4411-AF64-4961B14FF3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A112B12-C829-4A15-A43E-344A72BEB0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2EB2BE0-18E6-4013-B6C6-A07E7A638A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756E6C-1B6F-4805-9532-20D373144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2D12B6-B58D-4BE7-BBD2-266BEB586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E9280F-6F7C-4CCE-901B-D954C24075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83A2A9-661A-4C64-B797-34F832C23A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0A6B2C-E467-4C5D-9F86-0FE9AE8DD1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3FD5839-92BE-4282-9BC3-6B7E1BE6C1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196DCA-675D-44BF-9A95-4DC397674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26B154-05E5-4836-A8C5-0C67A39275A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4A3949E-49A0-4611-B5D0-8C9E86EBD1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1E4BBB9-F7A5-41D0-B7E6-7B696457E6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FB32C4F-0109-4449-BAF5-F9E137AB8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F93536-DD66-4B45-A66B-8A949821E5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747913-BEA0-4ECE-B83E-A204568E3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AEB40F-09E3-4BBA-8BD4-E004E775CE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7FB822-D89B-42F9-B293-327A179CF1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E81664-FD0C-4E1E-8634-81BD9A6CE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08BA8E-DD28-4F33-94DF-A2843DA2FB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B532A11-DD7D-43DC-B279-0D9AA325D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2FEAAA-25AD-49F5-B51A-3BFA7D50D2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2BDE2B-59D0-432B-A53B-7B0BE9026B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E26361-B244-49A9-816D-5696AAAD15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635731-5DC0-4945-AD25-C2FC40479C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1783e1ec0f433e" /><Relationship Type="http://schemas.openxmlformats.org/officeDocument/2006/relationships/slideLayout" Target="/ppt/slideLayouts/slideLayout1.xml" Id="R083d53a6a02c4b35" /><Relationship Type="http://schemas.openxmlformats.org/officeDocument/2006/relationships/slideLayout" Target="/ppt/slideLayouts/slideLayout2.xml" Id="R7413e7b8c1bb423a" /><Relationship Type="http://schemas.openxmlformats.org/officeDocument/2006/relationships/slideLayout" Target="/ppt/slideLayouts/slideLayout3.xml" Id="R7709bd6fb99647db" /><Relationship Type="http://schemas.openxmlformats.org/officeDocument/2006/relationships/slideLayout" Target="/ppt/slideLayouts/slideLayout4.xml" Id="R8b9754bbeb554382" /><Relationship Type="http://schemas.openxmlformats.org/officeDocument/2006/relationships/slideLayout" Target="/ppt/slideLayouts/slideLayout5.xml" Id="R89cd7a0b371a496c" /><Relationship Type="http://schemas.openxmlformats.org/officeDocument/2006/relationships/slideLayout" Target="/ppt/slideLayouts/slideLayout6.xml" Id="R3e747cd670954863" /><Relationship Type="http://schemas.openxmlformats.org/officeDocument/2006/relationships/slideLayout" Target="/ppt/slideLayouts/slideLayout7.xml" Id="R01f7f3d71bf44063" /><Relationship Type="http://schemas.openxmlformats.org/officeDocument/2006/relationships/slideLayout" Target="/ppt/slideLayouts/slideLayout8.xml" Id="R7f4407e4020843b1" /><Relationship Type="http://schemas.openxmlformats.org/officeDocument/2006/relationships/slideLayout" Target="/ppt/slideLayouts/slideLayout9.xml" Id="Rfeef5041b74a4cbf" /><Relationship Type="http://schemas.openxmlformats.org/officeDocument/2006/relationships/slideLayout" Target="/ppt/slideLayouts/slideLayout10.xml" Id="Rba5ea3f677e04710" /><Relationship Type="http://schemas.openxmlformats.org/officeDocument/2006/relationships/slideLayout" Target="/ppt/slideLayouts/slideLayout11.xml" Id="R892c740b6bfe480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238FD4A-98F9-46C5-B00D-CD8BB46708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7E4E80-A173-4250-9658-87855E1EE2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FB7B95-33B8-4FCD-8190-341BC2B035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D2C59A-A76C-4CB6-9B73-4FCF41EA58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160DD3-C0A0-47B4-912D-2F95B4316D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3d53a6a02c4b35"/>
    <p:sldLayoutId xmlns:r="http://schemas.openxmlformats.org/officeDocument/2006/relationships" id="2147483650" r:id="R7413e7b8c1bb423a"/>
    <p:sldLayoutId xmlns:r="http://schemas.openxmlformats.org/officeDocument/2006/relationships" id="2147483651" r:id="R7709bd6fb99647db"/>
    <p:sldLayoutId xmlns:r="http://schemas.openxmlformats.org/officeDocument/2006/relationships" id="2147483652" r:id="R8b9754bbeb554382"/>
    <p:sldLayoutId xmlns:r="http://schemas.openxmlformats.org/officeDocument/2006/relationships" id="2147483653" r:id="R89cd7a0b371a496c"/>
    <p:sldLayoutId xmlns:r="http://schemas.openxmlformats.org/officeDocument/2006/relationships" id="2147483654" r:id="R3e747cd670954863"/>
    <p:sldLayoutId xmlns:r="http://schemas.openxmlformats.org/officeDocument/2006/relationships" id="2147483655" r:id="R01f7f3d71bf44063"/>
    <p:sldLayoutId xmlns:r="http://schemas.openxmlformats.org/officeDocument/2006/relationships" id="2147483656" r:id="R7f4407e4020843b1"/>
    <p:sldLayoutId xmlns:r="http://schemas.openxmlformats.org/officeDocument/2006/relationships" id="2147483657" r:id="Rfeef5041b74a4cbf"/>
    <p:sldLayoutId xmlns:r="http://schemas.openxmlformats.org/officeDocument/2006/relationships" id="2147483658" r:id="Rba5ea3f677e04710"/>
    <p:sldLayoutId xmlns:r="http://schemas.openxmlformats.org/officeDocument/2006/relationships" id="2147483659" r:id="R892c740b6bfe480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352a9502674949" /><Relationship Type="http://schemas.openxmlformats.org/officeDocument/2006/relationships/notesSlide" Target="/ppt/notesSlides/notesSlide1.xml" Id="R11f348011c5f41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3ac3424a0e4576" /><Relationship Type="http://schemas.openxmlformats.org/officeDocument/2006/relationships/notesSlide" Target="/ppt/notesSlides/notesSlide2.xml" Id="R294797425aac44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03eb8a8f364bd7" /><Relationship Type="http://schemas.openxmlformats.org/officeDocument/2006/relationships/notesSlide" Target="/ppt/notesSlides/notesSlide3.xml" Id="R84589a289d77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8dd4afb55d409f" /><Relationship Type="http://schemas.openxmlformats.org/officeDocument/2006/relationships/notesSlide" Target="/ppt/notesSlides/notesSlide4.xml" Id="R9a1244b30ed14c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316c26a3184677" /><Relationship Type="http://schemas.openxmlformats.org/officeDocument/2006/relationships/notesSlide" Target="/ppt/notesSlides/notesSlide5.xml" Id="R95624117c1b341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023840-77CC-4394-9A76-B93AE71D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1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E147871-2DA3-4CDE-B362-9B3090A0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-1371600"/>
            <a:ext cx="5669280" cy="5669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D1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AB16DF7-6A38-4F49-B708-21EE6B45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-50292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71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2623C8B-7D67-4C4D-A2BD-8F8E0D10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85800"/>
            <a:ext cx="566928" cy="56692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D9FF55"/>
          </a:solidFill>
          <a:ln xmlns:a="http://schemas.openxmlformats.org/drawingml/2006/main" w="12700">
            <a:solidFill>
              <a:srgbClr val="D9FF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A1005"/>
                </a:solidFill>
                <a:latin typeface="Arial"/>
                <a:ea typeface="Arial"/>
                <a:cs typeface="Arial"/>
              </a:rPr>
              <a:t>SP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03B983-98C1-4E89-9123-60141835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80467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SourcePilot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94C79B8-CEE2-475D-88BD-1446D8F6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8229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Spend the money.
</a:t>
            </a:r>
            <a:r>
              <a:rPr sz="5200" b="1" i="0">
                <a:solidFill>
                  <a:srgbClr val="D9FF55"/>
                </a:solidFill>
                <a:latin typeface="Arial"/>
                <a:ea typeface="Arial"/>
                <a:cs typeface="Arial"/>
              </a:rPr>
              <a:t>Prove the limit.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F39CA8D-81D3-40F1-A0C6-761E4C5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03320"/>
            <a:ext cx="7498079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60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A procurement agent that spends company money inside a limit its owner signed </a:t>
            </a:r>
            <a:r>
              <a:rPr sz="1600" b="1">
                <a:solidFill>
                  <a:srgbClr val="E8EDF4"/>
                </a:solidFill>
                <a:latin typeface="Arial"/>
                <a:ea typeface="Arial"/>
                <a:cs typeface="Arial"/>
              </a:rPr>
              <a:t>cryptographically</a:t>
            </a:r>
            <a:r>
              <a:rPr sz="160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 — enforced on-chain, revocable in one transaction.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39B0DE1-202A-4D03-A9F5-C8DAB0AF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228600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0" rIns="109728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E8EDF4"/>
                </a:solidFill>
                <a:latin typeface="Arial"/>
                <a:ea typeface="Arial"/>
                <a:cs typeface="Arial"/>
              </a:rPr>
              <a:t>Rain × Monad · NYC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B555ADF-7CDD-4DD6-82E6-77BEB8E5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57800"/>
            <a:ext cx="393192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0" rIns="109728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D9FF55"/>
                </a:solidFill>
                <a:latin typeface="Arial"/>
                <a:ea typeface="Arial"/>
                <a:cs typeface="Arial"/>
              </a:rPr>
              <a:t>rain-agentic-sourcepilot.vercel.app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0D4FEDC-78D9-476C-A3D1-460AC1C6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257800"/>
            <a:ext cx="237744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0" rIns="109728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E8EDF4"/>
                </a:solidFill>
                <a:latin typeface="Arial"/>
                <a:ea typeface="Arial"/>
                <a:cs typeface="Arial"/>
              </a:rPr>
              <a:t>Monad Testnet · 10143</a:t>
            </a:r>
          </a:p>
        </p:txBody>
      </p:sp>
    </p:spTree>
    <p:extLst>
      <p:ext uri="{BB962C8B-B14F-4D97-AF65-F5344CB8AC3E}">
        <p14:creationId xmlns:p14="http://schemas.microsoft.com/office/powerpoint/2010/main" val="174730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B549AE-89DA-4681-BA0A-A7FCE3A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1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82291C-1652-46EE-B000-3640B40D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58368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D9FF55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FD60AD2-ECBE-4DA3-B038-AAD33110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6012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Give an agent a corporate card and you have two bad options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4AF594F-EF5A-4F7F-B874-532E4CC7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4892040" cy="2286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3CB7B03-2791-443C-A661-8E197DCD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E79968-F390-4E95-83FA-BB90C67C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12848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Hand over the card number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181F27F-D9E3-4C99-A710-A92004E8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43200"/>
            <a:ext cx="4343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25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The agent holds a 16-digit credential valid at every merchant on earth, for years.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25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You cannot say “these three suppliers, $1,840, ninety days.”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5EF1FD3-63E2-4FA8-A6EC-6FAF092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965960"/>
            <a:ext cx="4892040" cy="2286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3511669B-2495-4272-80D3-1E92B3D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2860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4BCFF2-D1CE-496E-A07A-0A6AB694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12848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Approve every purchase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E21DA55-DC05-4F8A-99BF-69BD63C7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43200"/>
            <a:ext cx="4343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25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Now you don’t have an agent. You have a form with extra steps.</a:t>
            </a:r>
          </a:p>
          <a:p xmlns:a="http://schemas.openxmlformats.org/drawingml/2006/main">
            <a:pPr algn="l">
              <a:spcAft>
                <a:spcPts val="800"/>
              </a:spcAft>
              <a:buNone/>
            </a:pPr>
            <a:r>
              <a:rPr sz="125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Every payment waits on a human who isn’t in the room.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D6C757E-1017-4834-BCE2-44CA6260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10104120" cy="12344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82011"/>
          </a:solidFill>
          <a:ln xmlns:a="http://schemas.openxmlformats.org/drawingml/2006/main" w="12700">
            <a:solidFill>
              <a:srgbClr val="3D4A1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62E7B2-3501-48FB-B4A2-F5462C39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92040"/>
            <a:ext cx="9509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The credential can express </a:t>
            </a:r>
            <a:r>
              <a:rPr sz="1400" b="1">
                <a:solidFill>
                  <a:srgbClr val="E8EDF4"/>
                </a:solidFill>
                <a:latin typeface="Arial"/>
                <a:ea typeface="Arial"/>
                <a:cs typeface="Arial"/>
              </a:rPr>
              <a:t>that an account exists</a:t>
            </a:r>
            <a:r>
              <a:rPr sz="140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 — not </a:t>
            </a:r>
            <a:r>
              <a:rPr sz="1400" b="1">
                <a:solidFill>
                  <a:srgbClr val="D9FF55"/>
                </a:solidFill>
                <a:latin typeface="Arial"/>
                <a:ea typeface="Arial"/>
                <a:cs typeface="Arial"/>
              </a:rPr>
              <a:t>what the agent is allowed to do</a:t>
            </a:r>
            <a:r>
              <a:rPr sz="140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That gap is the whole problem. SourcePilot closes it with a signature.</a:t>
            </a:r>
          </a:p>
        </p:txBody>
      </p:sp>
    </p:spTree>
    <p:extLst>
      <p:ext uri="{BB962C8B-B14F-4D97-AF65-F5344CB8AC3E}">
        <p14:creationId xmlns:p14="http://schemas.microsoft.com/office/powerpoint/2010/main" val="12582725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E2932E-03FE-472C-9C59-31E2016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1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6D38DC-B791-4287-B7F8-4EAA42AC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58368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D9FF55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72D747-60D4-4284-AD6C-F0CE67CE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60120"/>
            <a:ext cx="10241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One signature. Checked on-chain, every payment.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6CA67C5-C518-4A9B-9BF9-FC6EA612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411480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C47F80-A14C-4656-A73D-E9E77DFC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48840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THE SIGNED MANDATE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CACF3E8-4CD0-4972-A4DD-1B740A8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42032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9AA9BE"/>
                </a:solidFill>
                <a:latin typeface="Arial"/>
                <a:ea typeface="Arial"/>
                <a:cs typeface="Arial"/>
              </a:rPr>
              <a:t>Cumulative ceiling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FE13165-2B87-4618-B1EC-0C45B7AF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42032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$1,840.00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FB16790-BF92-4F0D-91FE-95CC9090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99232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9AA9BE"/>
                </a:solidFill>
                <a:latin typeface="Arial"/>
                <a:ea typeface="Arial"/>
                <a:cs typeface="Arial"/>
              </a:rPr>
              <a:t>Autonomous threshold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DAB7C8E-79EC-47DB-97B9-4B51B9B9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99232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$200.00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60C8D16-6AC6-458B-BC69-6A71B68A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56432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9AA9BE"/>
                </a:solidFill>
                <a:latin typeface="Arial"/>
                <a:ea typeface="Arial"/>
                <a:cs typeface="Arial"/>
              </a:rPr>
              <a:t>Deposit cap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15BE139-CECA-461A-AE71-BFB844C9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56432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30% of PO value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C3EFC8-9DCD-40E9-B596-728E3E39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13631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9AA9BE"/>
                </a:solidFill>
                <a:latin typeface="Arial"/>
                <a:ea typeface="Arial"/>
                <a:cs typeface="Arial"/>
              </a:rPr>
              <a:t>Approved payees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7F1921B-F270-449F-BBE6-15717E45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13631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3 suppliers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222E9C3-3D96-4376-93D4-641364C4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70831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9AA9BE"/>
                </a:solidFill>
                <a:latin typeface="Arial"/>
                <a:ea typeface="Arial"/>
                <a:cs typeface="Arial"/>
              </a:rPr>
              <a:t>Validity window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8FAF192-BC10-404C-AD8D-0CD8426E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70831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90 days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02F356C-B3CB-4243-AD8C-796821C1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0240"/>
            <a:ext cx="562356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906CA06-9909-4C01-ACA6-56A547C8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1488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EVERY PAYMENT TAKES THIS PATH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D17472F-BC63-4635-8EE6-E4D5A576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560320"/>
            <a:ext cx="31089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2836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9AA9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A09FB0-C8E8-4DCF-AA92-50DF7583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569463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Off-chain sourcing checks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FAE1444-9BA8-4B3E-B1AB-FFFCE322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6207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lead time · spec match · completeness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F3B9A78-0B4D-4379-98F2-239AF117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31089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D9FF55"/>
          </a:solidFill>
          <a:ln xmlns:a="http://schemas.openxmlformats.org/drawingml/2006/main" w="12700">
            <a:solidFill>
              <a:srgbClr val="D9FF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0A100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E2037FF-58AC-458E-92E8-A61592E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410711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i="0">
                <a:solidFill>
                  <a:srgbClr val="D9FF55"/>
                </a:solidFill>
                <a:latin typeface="Arial"/>
                <a:ea typeface="Arial"/>
                <a:cs typeface="Arial"/>
              </a:rPr>
              <a:t>MandateRegistry.record() on Monad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547D514-C194-4188-B4EE-74BCFC37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703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ceiling · payee scope · window · revocation · deposit cap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4658D40-BD57-4CAA-BBA3-38CC35DC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242816"/>
            <a:ext cx="31089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2836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9AA9B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572DD27-EE86-4F81-B368-0DECE79B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251959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Payment processor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D52F8B6-851B-425B-8700-F1E3B00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54456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reached only if the contract did not revert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445F92E-75AF-44F0-861C-6D432174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10104120" cy="960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82011"/>
          </a:solidFill>
          <a:ln xmlns:a="http://schemas.openxmlformats.org/drawingml/2006/main" w="12700">
            <a:solidFill>
              <a:srgbClr val="3D4A1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872FD0F-A352-49E9-BEF8-3EE7B1A7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431536"/>
            <a:ext cx="9509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50" b="1">
                <a:solidFill>
                  <a:srgbClr val="8A9CB5"/>
                </a:solidFill>
                <a:latin typeface="Arial"/>
                <a:ea typeface="Arial"/>
                <a:cs typeface="Arial"/>
              </a:rPr>
              <a:t>“What breaks if you delete the server’s call to the contract?”  </a:t>
            </a:r>
            <a:r>
              <a:rPr sz="1350" b="1">
                <a:solidFill>
                  <a:srgbClr val="E8EDF4"/>
                </a:solidFill>
                <a:latin typeface="Arial"/>
                <a:ea typeface="Arial"/>
                <a:cs typeface="Arial"/>
              </a:rPr>
              <a:t>The payment loses its authorization and the ceiling stops decrementing.</a:t>
            </a:r>
          </a:p>
        </p:txBody>
      </p:sp>
    </p:spTree>
    <p:extLst>
      <p:ext uri="{BB962C8B-B14F-4D97-AF65-F5344CB8AC3E}">
        <p14:creationId xmlns:p14="http://schemas.microsoft.com/office/powerpoint/2010/main" val="7936529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78AC56-A020-4F4B-8EC9-E333EF6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1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AEADF48-D880-4769-B8A2-13394F7A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58368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D9FF55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F34F624-32A1-4B9F-9E44-C24674A6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60120"/>
            <a:ext cx="10241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Not a diagram. Four public transactions.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CF50DA2-73ED-48E6-9804-F805318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6949440" cy="731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0A742D0-4639-4FE2-826B-CBA8F2B0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29514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9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2EB9DAC-D611-4785-8AF7-DD59E0D9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30552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Registry deployed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C62785E-2586-41B7-83F3-FFAE73FE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404872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block 52019868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C4E33EA-788E-46BC-9F3F-27FC6787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249424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9AA9BE"/>
                </a:solidFill>
                <a:latin typeface="Courier New"/>
                <a:ea typeface="Courier New"/>
                <a:cs typeface="Courier New"/>
              </a:rPr>
              <a:t>0x4fba…4a41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DB54F6D-7332-4900-80AF-F7134038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16352"/>
            <a:ext cx="6949440" cy="731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D89008D-BD9F-4D92-87A3-14B386E5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11810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9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523B2A-9DBA-402C-A8A3-038E8BD8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953512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Mandate created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8FD5A59-7222-4868-A48F-83D9D4B0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227832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digest recomputed on-chain from 12 signed fields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026A78-ED67-46DE-87DB-2ED2FFEB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072384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9AA9BE"/>
                </a:solidFill>
                <a:latin typeface="Courier New"/>
                <a:ea typeface="Courier New"/>
                <a:cs typeface="Courier New"/>
              </a:rPr>
              <a:t>0x6883…1688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2DAAC75-B15B-4977-9AFC-EDC007A9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6949440" cy="731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949C50F-CA26-4367-8B2D-EA689305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941063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DD12585-CD2E-44D8-850C-2B5166C3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776472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$180 sample recorded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37A5583-A8B9-4DF3-A8CE-099E89AE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050791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spent 18000 → remaining 166000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D6AA740-33F4-4157-9E44-9F09AAB0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895344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D9FF55"/>
                </a:solidFill>
                <a:latin typeface="Courier New"/>
                <a:ea typeface="Courier New"/>
                <a:cs typeface="Courier New"/>
              </a:rPr>
              <a:t>0xb690…f098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0A4A759-4513-45ED-98A6-9B8B061C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62272"/>
            <a:ext cx="6949440" cy="7315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F9C28C3A-ECD8-4915-BA71-6A998455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76402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93AC740-305E-4847-8B06-5D4C4A84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599432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Mandate revoked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F9F3407-851F-4AA3-8596-F1CA8EE9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873752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every later payment reverts Revoked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18816DE-0628-4A30-BA85-C0B5E11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718304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FB7185"/>
                </a:solidFill>
                <a:latin typeface="Courier New"/>
                <a:ea typeface="Courier New"/>
                <a:cs typeface="Courier New"/>
              </a:rPr>
              <a:t>0x48b5…3ded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1E58990-A693-4F9F-89E8-57235622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3392"/>
            <a:ext cx="288036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7BACB15-440B-4160-8C9F-58A32941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93976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D9FF55"/>
                </a:solidFill>
                <a:latin typeface="Arial"/>
                <a:ea typeface="Arial"/>
                <a:cs typeface="Arial"/>
              </a:rPr>
              <a:t>207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4706040-0176-492D-996C-9908C39C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67712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9AA9BE"/>
                </a:solidFill>
                <a:latin typeface="Arial"/>
                <a:ea typeface="Arial"/>
                <a:cs typeface="Arial"/>
              </a:rPr>
              <a:t>tests passing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30B9E128-521C-4034-8342-2D8563F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17520"/>
            <a:ext cx="288036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CC16B7D-6CB7-42A0-93F4-8427E43B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118104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7B61565-B945-456F-B046-9A5DF91D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29184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9AA9BE"/>
                </a:solidFill>
                <a:latin typeface="Arial"/>
                <a:ea typeface="Arial"/>
                <a:cs typeface="Arial"/>
              </a:rPr>
              <a:t>Foundry contract tests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9E739526-14DC-43FA-AAA1-F62DF317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1648"/>
            <a:ext cx="2880360" cy="8412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739D60B-DF7B-4996-9D10-8CD8F8B2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142232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4ADE8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FF99210-A1C0-4B35-9E58-D83DDAF8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315968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9AA9BE"/>
                </a:solidFill>
                <a:latin typeface="Arial"/>
                <a:ea typeface="Arial"/>
                <a:cs typeface="Arial"/>
              </a:rPr>
              <a:t>processor calls when blocked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AC97D035-9579-416E-A5C0-DC60C0C9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5776"/>
            <a:ext cx="2880360" cy="65836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2836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A4130E9-D87E-4B7A-AB17-32E2DFC3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184648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BED7863-7E41-4170-8F2C-2BDA414C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404104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D9FF55"/>
                </a:solidFill>
                <a:latin typeface="Courier New"/>
                <a:ea typeface="Courier New"/>
                <a:cs typeface="Courier New"/>
              </a:rPr>
              <a:t>0x9553c5…dbf1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3CC8BD3-DC57-4871-B24C-87579EB8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6949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Every figure re-checkable: </a:t>
            </a:r>
            <a:r>
              <a:rPr sz="1150" b="1" i="0">
                <a:solidFill>
                  <a:srgbClr val="D9FF55"/>
                </a:solidFill>
                <a:latin typeface="Arial"/>
                <a:ea typeface="Arial"/>
                <a:cs typeface="Arial"/>
              </a:rPr>
              <a:t>pnpm verify:claims</a:t>
            </a:r>
            <a:r>
              <a:rPr sz="1150" b="0" i="0">
                <a:solidFill>
                  <a:srgbClr val="8A9CB5"/>
                </a:solidFill>
                <a:latin typeface="Arial"/>
                <a:ea typeface="Arial"/>
                <a:cs typeface="Arial"/>
              </a:rPr>
              <a:t>  ·  output/monad/deployment.json</a:t>
            </a:r>
          </a:p>
        </p:txBody>
      </p:sp>
    </p:spTree>
    <p:extLst>
      <p:ext uri="{BB962C8B-B14F-4D97-AF65-F5344CB8AC3E}">
        <p14:creationId xmlns:p14="http://schemas.microsoft.com/office/powerpoint/2010/main" val="17616123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C7D062-8740-41D3-82BD-72679040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1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6E5BEC-2B43-4636-AC5E-1E8D82EE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58368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D9FF55"/>
                </a:solidFill>
                <a:latin typeface="Arial"/>
                <a:ea typeface="Arial"/>
                <a:cs typeface="Arial"/>
              </a:rPr>
              <a:t>THE BOUNDARY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EB04B5-14C4-4C5D-85CB-4DFBBBD5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60120"/>
            <a:ext cx="10241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What we enforce — and what we don’t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EF81E7D-1C7D-40C4-A05B-12BDB8F4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4892040" cy="2743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50A366B-6390-425C-946A-61C2E50A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12848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4ADE80"/>
                </a:solidFill>
                <a:latin typeface="Arial"/>
                <a:ea typeface="Arial"/>
                <a:cs typeface="Arial"/>
              </a:rPr>
              <a:t>ENFORCED BY THE CONTRACT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58D13E85-B666-4E5B-BB0F-ACEA2485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6090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85616A3-0EFC-43B1-809F-0A95642B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87752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Cumulative spending ceiling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7E1319D-6ACF-4167-9E94-EC9BDE73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310C5B9-CD56-4A9D-8AEF-04DBC14D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90088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Approved-payee scope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A4EC2AA3-DDE0-4F2B-A5DE-44FF6F21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6557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35B7DD-D329-4B7F-B52E-65DCFD4F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392424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Validity window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2E8E337C-04E1-4792-8A2B-2B1D6BC8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6791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63E03B6-A86B-4144-B33E-C143B4BE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79476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Revocation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41DEC92B-1FB5-48D8-889B-03597972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7024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A43DA89-A7D3-4F37-8B02-805F5AF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197096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Deposit cap, via an approval
signature verified on-chain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7C9F38F-C8F6-4C58-9769-C3CEC58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965960"/>
            <a:ext cx="4892040" cy="2743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12700">
            <a:solidFill>
              <a:srgbClr val="2A364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F1A653-6EF5-4D25-AB6F-2B2CF22A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212848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B7185"/>
                </a:solidFill>
                <a:latin typeface="Arial"/>
                <a:ea typeface="Arial"/>
                <a:cs typeface="Arial"/>
              </a:rPr>
              <a:t>NOT ENFORCED — AND WE SAY SO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A41917CB-7E72-475E-84DB-16AA03FF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6090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224E462-2B2D-425F-BD2F-3116564C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587752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Whether the signed PO value matches
the real invoice. No contract can.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5891B326-7F0C-4D0B-A6CC-EECDCF68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27832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CB85F0C-E4FD-4471-8333-E39FAD9B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154680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Supplier verification. Out of scope,
and we don’t claim it.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49D58B91-9ACF-4F41-A2BC-12F4F936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794759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77D094F-94AA-4E44-A1E1-3292D504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721608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Rain sandbox authentication is live.
No live issuance or settlement.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A300827-5EDE-4115-9A58-0EE17627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29200"/>
            <a:ext cx="1010412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82011"/>
          </a:solidFill>
          <a:ln xmlns:a="http://schemas.openxmlformats.org/drawingml/2006/main" w="12700">
            <a:solidFill>
              <a:srgbClr val="3D4A1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5ECB08C-3861-4A67-A674-B0A15ED7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57800"/>
            <a:ext cx="9509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5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Live Rain GET: HTTP 200. For blocked payments, </a:t>
            </a:r>
            <a:r>
              <a:rPr sz="1350" b="1">
                <a:solidFill>
                  <a:srgbClr val="D9FF55"/>
                </a:solidFill>
                <a:latin typeface="Arial"/>
                <a:ea typeface="Arial"/>
                <a:cs typeface="Arial"/>
              </a:rPr>
              <a:t>MockRainAdapter.calls = 0</a:t>
            </a:r>
            <a:r>
              <a:rPr sz="1350" b="0">
                <a:solidFill>
                  <a:srgbClr val="9AA9BE"/>
                </a:solidFill>
                <a:latin typeface="Arial"/>
                <a:ea typeface="Arial"/>
                <a:cs typeface="Arial"/>
              </a:rPr>
              <a:t> — Monad remains the gate before mock execution.</a:t>
            </a:r>
          </a:p>
        </p:txBody>
      </p:sp>
    </p:spTree>
    <p:extLst>
      <p:ext uri="{BB962C8B-B14F-4D97-AF65-F5344CB8AC3E}">
        <p14:creationId xmlns:p14="http://schemas.microsoft.com/office/powerpoint/2010/main" val="54136775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2026-08-09T04:30:27.5610000Z</dcterms:created>
  <dcterms:modified xsi:type="dcterms:W3CDTF">2026-08-09T04:30:27.5610000Z</dcterms:modified>
</coreProperties>
</file>
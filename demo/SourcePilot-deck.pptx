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a5d9b11a78458f" /><Relationship Type="http://schemas.openxmlformats.org/officeDocument/2006/relationships/extended-properties" Target="/docProps/app.xml" Id="Rc1654edd1ce047c1" /><Relationship Type="http://schemas.openxmlformats.org/officeDocument/2006/relationships/officeDocument" Target="/ppt/presentation.xml" Id="Rf2ccee3f610d49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fd60b8ae45496f"/>
  </p:sldMasterIdLst>
  <p:notesMasterIdLst>
    <p:notesMasterId xmlns:r="http://schemas.openxmlformats.org/officeDocument/2006/relationships" r:id="R3525cc6d96084cb2"/>
  </p:notesMasterIdLst>
  <p:sldIdLst>
    <p:sldId xmlns:r="http://schemas.openxmlformats.org/officeDocument/2006/relationships" id="256" r:id="R498d22edaed741c7"/>
    <p:sldId xmlns:r="http://schemas.openxmlformats.org/officeDocument/2006/relationships" id="257" r:id="Red41bf6db73d4b38"/>
    <p:sldId xmlns:r="http://schemas.openxmlformats.org/officeDocument/2006/relationships" id="258" r:id="Rf2d49fff5f044e14"/>
    <p:sldId xmlns:r="http://schemas.openxmlformats.org/officeDocument/2006/relationships" id="259" r:id="R1df9adc2fc934254"/>
    <p:sldId xmlns:r="http://schemas.openxmlformats.org/officeDocument/2006/relationships" id="260" r:id="Rae91a4df9f0d4505"/>
    <p:sldId xmlns:r="http://schemas.openxmlformats.org/officeDocument/2006/relationships" id="261" r:id="R4d713423cd1f47b3"/>
    <p:sldId xmlns:r="http://schemas.openxmlformats.org/officeDocument/2006/relationships" id="262" r:id="R632eac0bf80d49ae"/>
    <p:sldId xmlns:r="http://schemas.openxmlformats.org/officeDocument/2006/relationships" id="263" r:id="R1986808a5238442d"/>
    <p:sldId xmlns:r="http://schemas.openxmlformats.org/officeDocument/2006/relationships" id="264" r:id="R9366d5e99cf24f20"/>
    <p:sldId xmlns:r="http://schemas.openxmlformats.org/officeDocument/2006/relationships" id="265" r:id="R99253bdddf6a45ec"/>
    <p:sldId xmlns:r="http://schemas.openxmlformats.org/officeDocument/2006/relationships" id="266" r:id="R6dba780e1abf47fd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42c35e7237477c" /><Relationship Type="http://schemas.openxmlformats.org/officeDocument/2006/relationships/slideMaster" Target="/ppt/slideMasters/slideMaster1.xml" Id="R65fd60b8ae45496f" /><Relationship Type="http://schemas.openxmlformats.org/officeDocument/2006/relationships/notesMaster" Target="/ppt/notesMasters/notesMaster1.xml" Id="R3525cc6d96084cb2" /><Relationship Type="http://schemas.openxmlformats.org/officeDocument/2006/relationships/presProps" Target="/ppt/presProps.xml" Id="Rb9afb8a70e6c428d" /><Relationship Type="http://schemas.openxmlformats.org/officeDocument/2006/relationships/viewProps" Target="/ppt/viewProps.xml" Id="R69a94309a3354702" /><Relationship Type="http://schemas.openxmlformats.org/officeDocument/2006/relationships/tableStyles" Target="/ppt/tableStyles.xml" Id="R1851fa42cead406f" /><Relationship Type="http://schemas.openxmlformats.org/officeDocument/2006/relationships/slide" Target="/ppt/slides/slide1.xml" Id="R498d22edaed741c7" /><Relationship Type="http://schemas.openxmlformats.org/officeDocument/2006/relationships/slide" Target="/ppt/slides/slide2.xml" Id="Red41bf6db73d4b38" /><Relationship Type="http://schemas.openxmlformats.org/officeDocument/2006/relationships/slide" Target="/ppt/slides/slide3.xml" Id="Rf2d49fff5f044e14" /><Relationship Type="http://schemas.openxmlformats.org/officeDocument/2006/relationships/slide" Target="/ppt/slides/slide4.xml" Id="R1df9adc2fc934254" /><Relationship Type="http://schemas.openxmlformats.org/officeDocument/2006/relationships/slide" Target="/ppt/slides/slide5.xml" Id="Rae91a4df9f0d4505" /><Relationship Type="http://schemas.openxmlformats.org/officeDocument/2006/relationships/slide" Target="/ppt/slides/slide6.xml" Id="R4d713423cd1f47b3" /><Relationship Type="http://schemas.openxmlformats.org/officeDocument/2006/relationships/slide" Target="/ppt/slides/slide7.xml" Id="R632eac0bf80d49ae" /><Relationship Type="http://schemas.openxmlformats.org/officeDocument/2006/relationships/slide" Target="/ppt/slides/slide8.xml" Id="R1986808a5238442d" /><Relationship Type="http://schemas.openxmlformats.org/officeDocument/2006/relationships/slide" Target="/ppt/slides/slide9.xml" Id="R9366d5e99cf24f20" /><Relationship Type="http://schemas.openxmlformats.org/officeDocument/2006/relationships/slide" Target="/ppt/slides/slide10.xml" Id="R99253bdddf6a45ec" /><Relationship Type="http://schemas.openxmlformats.org/officeDocument/2006/relationships/slide" Target="/ppt/slides/slide11.xml" Id="R6dba780e1abf47f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f3e0a997104c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9a4848886d42a0" /><Relationship Type="http://schemas.openxmlformats.org/officeDocument/2006/relationships/notesMaster" Target="/ppt/notesMasters/notesMaster1.xml" Id="R85c3ce26d9aa47b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df6947ce824677" /><Relationship Type="http://schemas.openxmlformats.org/officeDocument/2006/relationships/notesMaster" Target="/ppt/notesMasters/notesMaster1.xml" Id="R4c10d1c7416b4b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038fcc68fb48ea" /><Relationship Type="http://schemas.openxmlformats.org/officeDocument/2006/relationships/notesMaster" Target="/ppt/notesMasters/notesMaster1.xml" Id="Rcb92da93279c4c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3c77979a6f425a" /><Relationship Type="http://schemas.openxmlformats.org/officeDocument/2006/relationships/notesMaster" Target="/ppt/notesMasters/notesMaster1.xml" Id="R8ac14776bc3a494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96c3e66abd46b7" /><Relationship Type="http://schemas.openxmlformats.org/officeDocument/2006/relationships/notesMaster" Target="/ppt/notesMasters/notesMaster1.xml" Id="R2d6dadb8283149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da50252ec84268" /><Relationship Type="http://schemas.openxmlformats.org/officeDocument/2006/relationships/notesMaster" Target="/ppt/notesMasters/notesMaster1.xml" Id="R652eaf3b19584d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10aa5b6dc9b4c8e" /><Relationship Type="http://schemas.openxmlformats.org/officeDocument/2006/relationships/notesMaster" Target="/ppt/notesMasters/notesMaster1.xml" Id="R5a708389c9d647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ee7db7ddea489a" /><Relationship Type="http://schemas.openxmlformats.org/officeDocument/2006/relationships/notesMaster" Target="/ppt/notesMasters/notesMaster1.xml" Id="R5c45aa15baf24f5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7017d5a89d04c89" /><Relationship Type="http://schemas.openxmlformats.org/officeDocument/2006/relationships/notesMaster" Target="/ppt/notesMasters/notesMaster1.xml" Id="Rc5eeab5c8000421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21f8e3443764d3d" /><Relationship Type="http://schemas.openxmlformats.org/officeDocument/2006/relationships/notesMaster" Target="/ppt/notesMasters/notesMaster1.xml" Id="Rea56f4ab1de8470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449619bb83f445a" /><Relationship Type="http://schemas.openxmlformats.org/officeDocument/2006/relationships/notesMaster" Target="/ppt/notesMasters/notesMaster1.xml" Id="R255478bd469949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Ten seconds. Name it, then go straight to the problem. Do not read the URL aloud.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Twenty-five seconds. Say it as a scene, not a market claim. The lime line is the thesis — pause after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Fifty seconds. Step 2 is the slide. The contract is a gate, not a log. The quoted question is the Monad bounty question — answer it before it's asked.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Hanzhou is recommended because it clears the signed sourcing terms. The cheapest quote is rejected because shipping, delivery, specification, and deposit terms fail policy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/Users/yingzhou/Desktop/Screenshot 2026-08-09 at 12.43.49 AM.png (user-provided screenshot, captured 2026-08-09)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the $200 autonomous threshold and the pending founder approval. Do not submit the payment form during the recording.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/Users/yingzhou/Desktop/Screenshot 2026-08-09 at 12.44.08 AM.png (user-provided screenshot, captured 2026-08-09)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public Monad testnet registry. The three successful interactions are mandate creation, spend recording, and revocation.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/Users/yingzhou/Desktop/Screenshot 2026-08-09 at 12.45.16 AM.png (user-provided screenshot, captured 2026-08-09)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Transaction 0xb690…f098 is the successful spend record. The contract interaction is public and independently inspectable.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/Users/yingzhou/Desktop/Screenshot 2026-08-09 at 12.46.07 AM.png (user-provided screenshot, captured 2026-08-09)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Transaction 0x48b5…3ded revokes the mandate. After this state transition, later attempts cannot reuse the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/Users/yingzhou/Desktop/Screenshot 2026-08-09 at 12.46.19 AM.png (user-provided screenshot, captured 2026-08-09)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successful result: authenticated true, GET /issuing/transactions, HTTP 200, and transaction count zero. Never display the API key or authentication header.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/Users/yingzhou/Desktop/Screenshot 2026-08-09 at 12.41.52 AM.png (user-provided screenshot, captured 2026-08-09)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Forty seconds. Open one of these in the explorer if the room is engaged. The remaining-166000 line is the ceiling actually decrementing — that is the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Twenty-five seconds, and do not rush it. Naming the seam before judges find it is the strongest move in the deck. Four Rain employees are in the room; the simulated line must come from you first.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cb53cf9c1e4e3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dfd220fdab474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3ade92cdfb448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e42b308a6c42c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b2e5380182454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7ff010f9d74e83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ffc45fc2f04c7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3d2d7362f1429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0128c2be8d4e7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72dce5aac04a4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21973450e6447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C3826AB-160E-4E09-80EB-47BD80A18D0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A07A4A5-7032-4931-95CE-8D216C3CDDF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4DDC6C-8A2D-4197-B245-0A3D21EC55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5B3D0FF-968C-40C7-BA5B-BBF518F11C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082914-7A3B-45FA-9C6D-784ED00562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4573BC-86EF-4210-9E42-3428D95778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AF8FC1F-7A68-445C-908C-5124A138D6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553F734-535E-4544-9ECF-C71CA44E53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254666D-AFF0-4D40-BCD6-D7B961586A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7CE8843-EA96-4028-BCFF-B95227BAB3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97EAC0-D9D8-4B44-BE6A-E8BC78F9FC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08BCB8-6E5C-41EE-AD6B-BC6D12BA1F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3254BD-E2EB-4C07-96CC-A6717E8EFE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039219F-F72C-49AE-86C6-3C4E4E4068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A0EEE7B-E91E-461F-BBCB-C24DCABC1D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5163FF-FC7B-41F2-B80D-AA16B55D33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A8EED26-F276-4D84-A0D6-820A71E04AD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F4C49C2-7F71-4165-9B08-415974CEDA9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25B8D1F-8094-4B66-AB63-A6C4E9FA88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DDDD5F9-1123-4460-BAB4-A8206E1969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59B1965-A25E-4222-A032-5BBEAEC84E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9FAAC72-AB65-46A8-BB3B-614C65BE41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A97D08-4CD7-4D93-B181-BF88F5AD85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A1F5930-B373-4C7D-943A-250DA15809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FE7DE91-1D76-4BD1-9678-49FFE84BDC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5D2F497-2795-4A8D-B834-72B2ECC4A0BE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E621673-D617-4757-9176-47DF70F333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E632240-9A33-4F3C-B1B7-A62802A22F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5B0A243-133B-45E5-932F-43C6F4664F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24E878-FE20-44F1-AFDC-BD002F0273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AFEBF2-016C-4CC3-ADBC-E18EDF3D53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9F0DFEE-AD1E-462A-B377-48D8E58E10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3DCF1FF-1F03-4C20-831F-CB7649CE89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A1DDA08-8DA2-4411-AF64-4961B14FF3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A112B12-C829-4A15-A43E-344A72BEB0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2EB2BE0-18E6-4013-B6C6-A07E7A638A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756E6C-1B6F-4805-9532-20D373144F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72D12B6-B58D-4BE7-BBD2-266BEB5866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5E9280F-6F7C-4CCE-901B-D954C240757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F83A2A9-661A-4C64-B797-34F832C23A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0A6B2C-E467-4C5D-9F86-0FE9AE8DD11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3FD5839-92BE-4282-9BC3-6B7E1BE6C1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C196DCA-675D-44BF-9A95-4DC397674B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26B154-05E5-4836-A8C5-0C67A39275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4A3949E-49A0-4611-B5D0-8C9E86EBD12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1E4BBB9-F7A5-41D0-B7E6-7B696457E6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FB32C4F-0109-4449-BAF5-F9E137AB83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BF93536-DD66-4B45-A66B-8A949821E5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8747913-BEA0-4ECE-B83E-A204568E33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FAEB40F-09E3-4BBA-8BD4-E004E775CE3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7FB822-D89B-42F9-B293-327A179CF1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9E81664-FD0C-4E1E-8634-81BD9A6CE5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08BA8E-DD28-4F33-94DF-A2843DA2FB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B532A11-DD7D-43DC-B279-0D9AA325DE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42FEAAA-25AD-49F5-B51A-3BFA7D50D2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2BDE2B-59D0-432B-A53B-7B0BE9026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0E26361-B244-49A9-816D-5696AAAD15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5635731-5DC0-4945-AD25-C2FC40479C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d2abf687c94961" /><Relationship Type="http://schemas.openxmlformats.org/officeDocument/2006/relationships/slideLayout" Target="/ppt/slideLayouts/slideLayout1.xml" Id="R523c7ad39ca54bfc" /><Relationship Type="http://schemas.openxmlformats.org/officeDocument/2006/relationships/slideLayout" Target="/ppt/slideLayouts/slideLayout2.xml" Id="Rdd25e791339044e4" /><Relationship Type="http://schemas.openxmlformats.org/officeDocument/2006/relationships/slideLayout" Target="/ppt/slideLayouts/slideLayout3.xml" Id="Rcf7370e419734aa1" /><Relationship Type="http://schemas.openxmlformats.org/officeDocument/2006/relationships/slideLayout" Target="/ppt/slideLayouts/slideLayout4.xml" Id="Rfbab329f27164dc3" /><Relationship Type="http://schemas.openxmlformats.org/officeDocument/2006/relationships/slideLayout" Target="/ppt/slideLayouts/slideLayout5.xml" Id="Rca86dd79ba8f416b" /><Relationship Type="http://schemas.openxmlformats.org/officeDocument/2006/relationships/slideLayout" Target="/ppt/slideLayouts/slideLayout6.xml" Id="Re99299f549f64fec" /><Relationship Type="http://schemas.openxmlformats.org/officeDocument/2006/relationships/slideLayout" Target="/ppt/slideLayouts/slideLayout7.xml" Id="R72d3c892e1cc4a83" /><Relationship Type="http://schemas.openxmlformats.org/officeDocument/2006/relationships/slideLayout" Target="/ppt/slideLayouts/slideLayout8.xml" Id="R56089b75f359498a" /><Relationship Type="http://schemas.openxmlformats.org/officeDocument/2006/relationships/slideLayout" Target="/ppt/slideLayouts/slideLayout9.xml" Id="Re93b53d467f54f6b" /><Relationship Type="http://schemas.openxmlformats.org/officeDocument/2006/relationships/slideLayout" Target="/ppt/slideLayouts/slideLayout10.xml" Id="R2eb914bfb1004b07" /><Relationship Type="http://schemas.openxmlformats.org/officeDocument/2006/relationships/slideLayout" Target="/ppt/slideLayouts/slideLayout11.xml" Id="R812637bf1ab44a0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238FD4A-98F9-46C5-B00D-CD8BB46708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A7E4E80-A173-4250-9658-87855E1EE2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FB7B95-33B8-4FCD-8190-341BC2B0351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D2C59A-A76C-4CB6-9B73-4FCF41EA58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1160DD3-C0A0-47B4-912D-2F95B4316D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3c7ad39ca54bfc"/>
    <p:sldLayoutId xmlns:r="http://schemas.openxmlformats.org/officeDocument/2006/relationships" id="2147483650" r:id="Rdd25e791339044e4"/>
    <p:sldLayoutId xmlns:r="http://schemas.openxmlformats.org/officeDocument/2006/relationships" id="2147483651" r:id="Rcf7370e419734aa1"/>
    <p:sldLayoutId xmlns:r="http://schemas.openxmlformats.org/officeDocument/2006/relationships" id="2147483652" r:id="Rfbab329f27164dc3"/>
    <p:sldLayoutId xmlns:r="http://schemas.openxmlformats.org/officeDocument/2006/relationships" id="2147483653" r:id="Rca86dd79ba8f416b"/>
    <p:sldLayoutId xmlns:r="http://schemas.openxmlformats.org/officeDocument/2006/relationships" id="2147483654" r:id="Re99299f549f64fec"/>
    <p:sldLayoutId xmlns:r="http://schemas.openxmlformats.org/officeDocument/2006/relationships" id="2147483655" r:id="R72d3c892e1cc4a83"/>
    <p:sldLayoutId xmlns:r="http://schemas.openxmlformats.org/officeDocument/2006/relationships" id="2147483656" r:id="R56089b75f359498a"/>
    <p:sldLayoutId xmlns:r="http://schemas.openxmlformats.org/officeDocument/2006/relationships" id="2147483657" r:id="Re93b53d467f54f6b"/>
    <p:sldLayoutId xmlns:r="http://schemas.openxmlformats.org/officeDocument/2006/relationships" id="2147483658" r:id="R2eb914bfb1004b07"/>
    <p:sldLayoutId xmlns:r="http://schemas.openxmlformats.org/officeDocument/2006/relationships" id="2147483659" r:id="R812637bf1ab44a0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7e29453dc2f4896" /><Relationship Type="http://schemas.openxmlformats.org/officeDocument/2006/relationships/notesSlide" Target="/ppt/notesSlides/notesSlide1.xml" Id="R7a4950be2d1247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1d4b6fa1a44281" /><Relationship Type="http://schemas.openxmlformats.org/officeDocument/2006/relationships/notesSlide" Target="/ppt/notesSlides/notesSlide2.xml" Id="Refda6b11d78140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72106ad7004282" /><Relationship Type="http://schemas.openxmlformats.org/officeDocument/2006/relationships/notesSlide" Target="/ppt/notesSlides/notesSlide3.xml" Id="Rafed9458370147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dc81fd2b84f46" /><Relationship Type="http://schemas.openxmlformats.org/officeDocument/2006/relationships/image" Target="/ppt/media/image.png" Id="Rcb62da2299cb4402" /><Relationship Type="http://schemas.openxmlformats.org/officeDocument/2006/relationships/notesSlide" Target="/ppt/notesSlides/notesSlide4.xml" Id="Ra9fec2d0952144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d1d8c478d44ab" /><Relationship Type="http://schemas.openxmlformats.org/officeDocument/2006/relationships/image" Target="/ppt/media/image2.png" Id="R35abe571a06f4456" /><Relationship Type="http://schemas.openxmlformats.org/officeDocument/2006/relationships/notesSlide" Target="/ppt/notesSlides/notesSlide5.xml" Id="Rcfaf8b6d509846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ef4a619f734872" /><Relationship Type="http://schemas.openxmlformats.org/officeDocument/2006/relationships/image" Target="/ppt/media/image3.png" Id="Ra976cc3bee18490e" /><Relationship Type="http://schemas.openxmlformats.org/officeDocument/2006/relationships/notesSlide" Target="/ppt/notesSlides/notesSlide6.xml" Id="R4c941ebed3f54d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a6152cfaa4f22" /><Relationship Type="http://schemas.openxmlformats.org/officeDocument/2006/relationships/image" Target="/ppt/media/image4.png" Id="R67b4c2c26f3d45d2" /><Relationship Type="http://schemas.openxmlformats.org/officeDocument/2006/relationships/notesSlide" Target="/ppt/notesSlides/notesSlide7.xml" Id="R9f8dcb15e5fc4c3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5316798824491" /><Relationship Type="http://schemas.openxmlformats.org/officeDocument/2006/relationships/image" Target="/ppt/media/image5.png" Id="R4d4731e0bd4a4603" /><Relationship Type="http://schemas.openxmlformats.org/officeDocument/2006/relationships/notesSlide" Target="/ppt/notesSlides/notesSlide8.xml" Id="R47e60fd18e5948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75dff3cc014fde" /><Relationship Type="http://schemas.openxmlformats.org/officeDocument/2006/relationships/image" Target="/ppt/media/image6.png" Id="R27a3e1ab2b61402a" /><Relationship Type="http://schemas.openxmlformats.org/officeDocument/2006/relationships/notesSlide" Target="/ppt/notesSlides/notesSlide9.xml" Id="Rb58053c4d7c0427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7b2b8dc4284b99" /><Relationship Type="http://schemas.openxmlformats.org/officeDocument/2006/relationships/notesSlide" Target="/ppt/notesSlides/notesSlide10.xml" Id="R4a8f9cf522a2416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ef4ae66decd4388" /><Relationship Type="http://schemas.openxmlformats.org/officeDocument/2006/relationships/notesSlide" Target="/ppt/notesSlides/notesSlide11.xml" Id="R6b6091a856b34e0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0023840-77CC-4394-9A76-B93AE71D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Oval 2">
            <a:extLst xmlns:a="http://schemas.openxmlformats.org/drawingml/2006/main">
              <a:ext uri="{FF2B5EF4-FFF2-40B4-BE49-F238E27FC236}">
                <a16:creationId xmlns:a16="http://schemas.microsoft.com/office/drawing/2014/main" id="{CE147871-2DA3-4CDE-B362-9B3090A0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-1371600"/>
            <a:ext cx="5669280" cy="5669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1D12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Oval 3">
            <a:extLst xmlns:a="http://schemas.openxmlformats.org/drawingml/2006/main">
              <a:ext uri="{FF2B5EF4-FFF2-40B4-BE49-F238E27FC236}">
                <a16:creationId xmlns:a16="http://schemas.microsoft.com/office/drawing/2014/main" id="{3AB16DF7-6A38-4F49-B708-21EE6B45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-502920"/>
            <a:ext cx="3657600" cy="3657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271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32623C8B-7D67-4C4D-A2BD-8F8E0D10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85800"/>
            <a:ext cx="566928" cy="56692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D9FF55"/>
          </a:solidFill>
          <a:ln xmlns:a="http://schemas.openxmlformats.org/drawingml/2006/main" w="12700">
            <a:solidFill>
              <a:srgbClr val="D9FF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700" b="1">
                <a:solidFill>
                  <a:srgbClr val="0A1005"/>
                </a:solidFill>
                <a:latin typeface="Arial"/>
                <a:ea typeface="Arial"/>
                <a:cs typeface="Arial"/>
              </a:rPr>
              <a:t>SP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803B983-98C1-4E89-9123-60141835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804672"/>
            <a:ext cx="4572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SourcePilot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94C79B8-CEE2-475D-88BD-1446D8F68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8229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5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Spend the money.
</a:t>
            </a:r>
            <a:r>
              <a:rPr sz="520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Prove the limit.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F39CA8D-81D3-40F1-A0C6-761E4C5C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703320"/>
            <a:ext cx="7498079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60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A procurement agent that spends company money inside a limit its owner signed </a:t>
            </a:r>
            <a:r>
              <a:rPr sz="1600" b="1">
                <a:solidFill>
                  <a:srgbClr val="E8EDF4"/>
                </a:solidFill>
                <a:latin typeface="Arial"/>
                <a:ea typeface="Arial"/>
                <a:cs typeface="Arial"/>
              </a:rPr>
              <a:t>cryptographically</a:t>
            </a:r>
            <a:r>
              <a:rPr sz="160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 — enforced on-chain, revocable in one transaction.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39B0DE1-202A-4D03-A9F5-C8DAB0AF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57800"/>
            <a:ext cx="2286000" cy="38404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0" rIns="109728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0">
                <a:solidFill>
                  <a:srgbClr val="E8EDF4"/>
                </a:solidFill>
                <a:latin typeface="Arial"/>
                <a:ea typeface="Arial"/>
                <a:cs typeface="Arial"/>
              </a:rPr>
              <a:t>Rain × Monad · NYC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B555ADF-7CDD-4DD6-82E6-77BEB8E5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257800"/>
            <a:ext cx="3931920" cy="38404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0" rIns="109728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1">
                <a:solidFill>
                  <a:srgbClr val="D9FF55"/>
                </a:solidFill>
                <a:latin typeface="Arial"/>
                <a:ea typeface="Arial"/>
                <a:cs typeface="Arial"/>
              </a:rPr>
              <a:t>rain-agentic-sourcepilot.vercel.app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0D4FEDC-78D9-476C-A3D1-460AC1C6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5257800"/>
            <a:ext cx="2377440" cy="38404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09728" tIns="0" rIns="109728" bIns="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100" b="0">
                <a:solidFill>
                  <a:srgbClr val="E8EDF4"/>
                </a:solidFill>
                <a:latin typeface="Arial"/>
                <a:ea typeface="Arial"/>
                <a:cs typeface="Arial"/>
              </a:rPr>
              <a:t>Monad Testnet · 10143</a:t>
            </a:r>
          </a:p>
        </p:txBody>
      </p:sp>
    </p:spTree>
    <p:extLst>
      <p:ext uri="{BB962C8B-B14F-4D97-AF65-F5344CB8AC3E}">
        <p14:creationId xmlns:p14="http://schemas.microsoft.com/office/powerpoint/2010/main" val="174730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BB549AE-89DA-4681-BA0A-A7FCE3A5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982291C-1652-46EE-B000-3640B40D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58368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FD60AD2-ECBE-4DA3-B038-AAD33110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960120"/>
            <a:ext cx="100584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Give an agent a corporate card and you have two bad options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04AF594F-EF5A-4F7F-B874-532E4CC7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4892040" cy="2286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83CB7B03-2791-443C-A661-8E197DCD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2860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6E79968-F390-4E95-83FA-BB90C67C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12848"/>
            <a:ext cx="4023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Hand over the card number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81F27F-D9E3-4C99-A710-A92004E8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43200"/>
            <a:ext cx="43434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00"/>
              </a:spcAft>
              <a:buNone/>
            </a:pPr>
            <a:r>
              <a:rPr sz="125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The agent holds a 16-digit credential valid at every merchant on earth, for years.</a:t>
            </a:r>
          </a:p>
          <a:p xmlns:a="http://schemas.openxmlformats.org/drawingml/2006/main">
            <a:pPr algn="l">
              <a:spcAft>
                <a:spcPts val="800"/>
              </a:spcAft>
              <a:buNone/>
            </a:pPr>
            <a:r>
              <a:rPr sz="125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You cannot say “these three suppliers, $1,840, ninety days.”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35EF1FD3-63E2-4FA8-A6EC-6FAF092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965960"/>
            <a:ext cx="4892040" cy="2286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3511669B-2495-4272-80D3-1E92B3D7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86000"/>
            <a:ext cx="146304" cy="1463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14BCFF2-D1CE-496E-A07A-0A6AB694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848"/>
            <a:ext cx="4023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Approve every purchase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E21DA55-DC05-4F8A-99BF-69BD63C7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743200"/>
            <a:ext cx="43434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00"/>
              </a:spcAft>
              <a:buNone/>
            </a:pPr>
            <a:r>
              <a:rPr sz="125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Now you don’t have an agent. You have a form with extra steps.</a:t>
            </a:r>
          </a:p>
          <a:p xmlns:a="http://schemas.openxmlformats.org/drawingml/2006/main">
            <a:pPr algn="l">
              <a:spcAft>
                <a:spcPts val="800"/>
              </a:spcAft>
              <a:buNone/>
            </a:pPr>
            <a:r>
              <a:rPr sz="125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Every payment waits on a human who isn’t in the room.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CD6C757E-1017-4834-BCE2-44CA6260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617720"/>
            <a:ext cx="10104120" cy="123444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82011"/>
          </a:solidFill>
          <a:ln xmlns:a="http://schemas.openxmlformats.org/drawingml/2006/main" w="12700">
            <a:solidFill>
              <a:srgbClr val="3D4A1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562E7B2-3501-48FB-B4A2-F5462C39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892040"/>
            <a:ext cx="950976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The credential can express </a:t>
            </a:r>
            <a:r>
              <a:rPr sz="1400" b="1">
                <a:solidFill>
                  <a:srgbClr val="E8EDF4"/>
                </a:solidFill>
                <a:latin typeface="Arial"/>
                <a:ea typeface="Arial"/>
                <a:cs typeface="Arial"/>
              </a:rPr>
              <a:t>that an account exists</a:t>
            </a:r>
            <a:r>
              <a:rPr sz="140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 — not </a:t>
            </a:r>
            <a:r>
              <a:rPr sz="1400" b="1">
                <a:solidFill>
                  <a:srgbClr val="D9FF55"/>
                </a:solidFill>
                <a:latin typeface="Arial"/>
                <a:ea typeface="Arial"/>
                <a:cs typeface="Arial"/>
              </a:rPr>
              <a:t>what the agent is allowed to do</a:t>
            </a:r>
            <a:r>
              <a:rPr sz="140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.</a:t>
            </a:r>
          </a:p>
          <a:p xmlns:a="http://schemas.openxmlformats.org/drawingml/2006/main">
            <a:pPr algn="l">
              <a:spcAft>
                <a:spcPts val="600"/>
              </a:spcAft>
              <a:buNone/>
            </a:pPr>
            <a:r>
              <a:rPr sz="140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That gap is the whole problem. SourcePilot closes it with a signature.</a:t>
            </a:r>
          </a:p>
        </p:txBody>
      </p:sp>
    </p:spTree>
    <p:extLst>
      <p:ext uri="{BB962C8B-B14F-4D97-AF65-F5344CB8AC3E}">
        <p14:creationId xmlns:p14="http://schemas.microsoft.com/office/powerpoint/2010/main" val="12582725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5E2932E-03FE-472C-9C59-31E20162D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46D38DC-B791-4287-B7F8-4EAA42AC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58368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HOW IT WORKS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072D747-60D4-4284-AD6C-F0CE67CE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960120"/>
            <a:ext cx="10241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One signature. Checked on-chain, every payment.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46CA67C5-C518-4A9B-9BF9-FC6EA612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20240"/>
            <a:ext cx="4114800" cy="306324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FC47F80-A14C-4656-A73D-E9E77DFC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148840"/>
            <a:ext cx="35661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1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THE SIGNED MANDATE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CACF3E8-4CD0-4972-A4DD-1B740A8F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542032"/>
            <a:ext cx="2194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Cumulative ceiling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FE13165-2B87-4618-B1EC-0C45B7AF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42032"/>
            <a:ext cx="1463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$1,840.00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FB16790-BF92-4F0D-91FE-95CC9090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999232"/>
            <a:ext cx="2194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Autonomous threshold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DAB7C8E-79EC-47DB-97B9-4B51B9B9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999232"/>
            <a:ext cx="1463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$200.00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60C8D16-6AC6-458B-BC69-6A71B68A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56432"/>
            <a:ext cx="2194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Deposit cap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15BE139-CECA-461A-AE71-BFB844C9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56432"/>
            <a:ext cx="1463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30% of PO value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6C3EFC8-9DCD-40E9-B596-728E3E39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913631"/>
            <a:ext cx="2194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Approved payees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7F1921B-F270-449F-BBE6-15717E45C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913631"/>
            <a:ext cx="1463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3 suppliers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222E9C3-3D96-4376-93D4-641364C4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370831"/>
            <a:ext cx="2194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Validity window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8FAF192-BC10-404C-AD8D-0CD8426E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370831"/>
            <a:ext cx="1463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90 days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D02F356C-B3CB-4243-AD8C-796821C13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1920240"/>
            <a:ext cx="5623560" cy="306324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906CA06-9909-4C01-ACA6-56A547C83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148840"/>
            <a:ext cx="5029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1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EVERY PAYMENT TAKES THIS PATH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7D17472F-BC63-4635-8EE6-E4D5A576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2560320"/>
            <a:ext cx="310896" cy="310896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E2836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9AA9B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8A09FB0-C8E8-4DCF-AA92-50DF7583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569463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Off-chain sourcing checks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FAE1444-9BA8-4B3E-B1AB-FFFCE322F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862072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lead time · spec match · completeness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2F3B9A78-0B4D-4379-98F2-239AF117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401568"/>
            <a:ext cx="310896" cy="310896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D9FF55"/>
          </a:solidFill>
          <a:ln xmlns:a="http://schemas.openxmlformats.org/drawingml/2006/main" w="12700">
            <a:solidFill>
              <a:srgbClr val="D9FF55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0A100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E2037FF-58AC-458E-92E8-A61592E3E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410711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MandateRegistry.record() on Monad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547D514-C194-4188-B4EE-74BCFC37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703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ceiling · payee scope · window · revocation · deposit cap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04658D40-BD57-4CAA-BBA3-38CC35DC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4242816"/>
            <a:ext cx="310896" cy="310896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E2836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 b="1">
                <a:solidFill>
                  <a:srgbClr val="9AA9B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572DD27-EE86-4F81-B368-0DECE79B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251959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Payment processor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D52F8B6-851B-425B-8700-F1E3B002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544568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reached only if the contract did not revert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6445F92E-75AF-44F0-861C-6D432174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230368"/>
            <a:ext cx="10104120" cy="96012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82011"/>
          </a:solidFill>
          <a:ln xmlns:a="http://schemas.openxmlformats.org/drawingml/2006/main" w="12700">
            <a:solidFill>
              <a:srgbClr val="3D4A1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E872FD0F-A352-49E9-BEF8-3EE7B1A7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431536"/>
            <a:ext cx="9509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350" b="1">
                <a:solidFill>
                  <a:srgbClr val="8A9CB5"/>
                </a:solidFill>
                <a:latin typeface="Arial"/>
                <a:ea typeface="Arial"/>
                <a:cs typeface="Arial"/>
              </a:rPr>
              <a:t>“What breaks if you delete the server’s call to the contract?”  </a:t>
            </a:r>
            <a:r>
              <a:rPr sz="1350" b="1">
                <a:solidFill>
                  <a:srgbClr val="E8EDF4"/>
                </a:solidFill>
                <a:latin typeface="Arial"/>
                <a:ea typeface="Arial"/>
                <a:cs typeface="Arial"/>
              </a:rPr>
              <a:t>The payment loses its authorization and the ceiling stops decrementing.</a:t>
            </a:r>
          </a:p>
        </p:txBody>
      </p:sp>
    </p:spTree>
    <p:extLst>
      <p:ext uri="{BB962C8B-B14F-4D97-AF65-F5344CB8AC3E}">
        <p14:creationId xmlns:p14="http://schemas.microsoft.com/office/powerpoint/2010/main" val="79365293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-background-1">
            <a:extLst xmlns:a="http://schemas.openxmlformats.org/drawingml/2006/main">
              <a:ext uri="{FF2B5EF4-FFF2-40B4-BE49-F238E27FC236}">
                <a16:creationId xmlns:a16="http://schemas.microsoft.com/office/drawing/2014/main" id="{7898AD71-29C6-4540-91F2-7C0BF42D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</p:sp>
      <p:sp>
        <p:nvSpPr>
          <p:cNvPr id="2" name="evidence-accent-1">
            <a:extLst xmlns:a="http://schemas.openxmlformats.org/drawingml/2006/main">
              <a:ext uri="{FF2B5EF4-FFF2-40B4-BE49-F238E27FC236}">
                <a16:creationId xmlns:a16="http://schemas.microsoft.com/office/drawing/2014/main" id="{B1ECD424-A406-4FA3-9791-65A2A002C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1811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7FF43"/>
          </a:solidFill>
          <a:ln xmlns:a="http://schemas.openxmlformats.org/drawingml/2006/main" w="0">
            <a:solidFill>
              <a:srgbClr val="D7FF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150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0150E"/>
                </a:solidFill>
                <a:latin typeface="Arial"/>
                <a:ea typeface="Arial"/>
                <a:cs typeface="Arial"/>
              </a:rPr>
              <a:t>DEMO · 01</a:t>
            </a:r>
          </a:p>
        </p:txBody>
      </p:sp>
      <p:sp>
        <p:nvSpPr>
          <p:cNvPr id="3" name="evidence-title-1">
            <a:extLst xmlns:a="http://schemas.openxmlformats.org/drawingml/2006/main">
              <a:ext uri="{FF2B5EF4-FFF2-40B4-BE49-F238E27FC236}">
                <a16:creationId xmlns:a16="http://schemas.microsoft.com/office/drawing/2014/main" id="{B490851F-AAD5-4CCE-871F-B41D8613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5F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2F5F8"/>
                </a:solidFill>
                <a:latin typeface="Arial"/>
                <a:ea typeface="Arial"/>
                <a:cs typeface="Arial"/>
              </a:rPr>
              <a:t>Compare suppliers</a:t>
            </a:r>
          </a:p>
        </p:txBody>
      </p:sp>
      <p:sp>
        <p:nvSpPr>
          <p:cNvPr id="4" name="evidence-subtitle-1">
            <a:extLst xmlns:a="http://schemas.openxmlformats.org/drawingml/2006/main">
              <a:ext uri="{FF2B5EF4-FFF2-40B4-BE49-F238E27FC236}">
                <a16:creationId xmlns:a16="http://schemas.microsoft.com/office/drawing/2014/main" id="{9F5B7CF6-F56C-46D6-9F2A-A8737B1E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9675"/>
            <a:ext cx="1082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BACBE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9BACBE"/>
                </a:solidFill>
                <a:latin typeface="Arial"/>
                <a:ea typeface="Arial"/>
                <a:cs typeface="Arial"/>
              </a:rPr>
              <a:t>The agent ranks the complete terms — not just the lowest unit price.</a:t>
            </a:r>
          </a:p>
        </p:txBody>
      </p:sp>
      <p:sp>
        <p:nvSpPr>
          <p:cNvPr id="5" name="evidence-frame-1">
            <a:extLst xmlns:a="http://schemas.openxmlformats.org/drawingml/2006/main">
              <a:ext uri="{FF2B5EF4-FFF2-40B4-BE49-F238E27FC236}">
                <a16:creationId xmlns:a16="http://schemas.microsoft.com/office/drawing/2014/main" id="{5E64EF67-DDF5-479C-99EE-96F08464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610100"/>
          </a:xfrm>
          <a:prstGeom xmlns:a="http://schemas.openxmlformats.org/drawingml/2006/main" prst="roundRect">
            <a:avLst>
              <a:gd name="adj" fmla="val 1653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14288">
            <a:solidFill>
              <a:srgbClr val="2B3746"/>
            </a:solidFill>
            <a:prstDash val="solid"/>
          </a:ln>
        </p:spPr>
      </p:sp>
      <p:pic>
        <p:nvPicPr>
          <p:cNvPr id="12" name="evidence-image-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62da2299cb4402"/>
          <a:srcRect xmlns:a="http://schemas.openxmlformats.org/drawingml/2006/main" l="0" t="26919" r="0" b="269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1733550"/>
            <a:ext cx="10629900" cy="4419600"/>
          </a:xfrm>
          <a:prstGeom xmlns:a="http://schemas.openxmlformats.org/drawingml/2006/main" prst="roundRect">
            <a:avLst>
              <a:gd name="adj" fmla="val 2155"/>
            </a:avLst>
          </a:prstGeom>
        </p:spPr>
      </p:pic>
    </p:spTree>
    <p:extLst>
      <p:ext uri="{BB962C8B-B14F-4D97-AF65-F5344CB8AC3E}">
        <p14:creationId xmlns:p14="http://schemas.microsoft.com/office/powerpoint/2010/main" val="14766150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-background-2">
            <a:extLst xmlns:a="http://schemas.openxmlformats.org/drawingml/2006/main">
              <a:ext uri="{FF2B5EF4-FFF2-40B4-BE49-F238E27FC236}">
                <a16:creationId xmlns:a16="http://schemas.microsoft.com/office/drawing/2014/main" id="{03997737-7A0E-4394-B179-29A26CA2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</p:sp>
      <p:sp>
        <p:nvSpPr>
          <p:cNvPr id="2" name="evidence-accent-2">
            <a:extLst xmlns:a="http://schemas.openxmlformats.org/drawingml/2006/main">
              <a:ext uri="{FF2B5EF4-FFF2-40B4-BE49-F238E27FC236}">
                <a16:creationId xmlns:a16="http://schemas.microsoft.com/office/drawing/2014/main" id="{B4ED7EFE-3D3F-437B-94AE-CD22FB17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1811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7FF43"/>
          </a:solidFill>
          <a:ln xmlns:a="http://schemas.openxmlformats.org/drawingml/2006/main" w="0">
            <a:solidFill>
              <a:srgbClr val="D7FF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150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0150E"/>
                </a:solidFill>
                <a:latin typeface="Arial"/>
                <a:ea typeface="Arial"/>
                <a:cs typeface="Arial"/>
              </a:rPr>
              <a:t>DEMO · 02</a:t>
            </a:r>
          </a:p>
        </p:txBody>
      </p:sp>
      <p:sp>
        <p:nvSpPr>
          <p:cNvPr id="3" name="evidence-title-2">
            <a:extLst xmlns:a="http://schemas.openxmlformats.org/drawingml/2006/main">
              <a:ext uri="{FF2B5EF4-FFF2-40B4-BE49-F238E27FC236}">
                <a16:creationId xmlns:a16="http://schemas.microsoft.com/office/drawing/2014/main" id="{2F3EDBA3-E69C-49DB-95D5-03581782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5F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2F5F8"/>
                </a:solidFill>
                <a:latin typeface="Arial"/>
                <a:ea typeface="Arial"/>
                <a:cs typeface="Arial"/>
              </a:rPr>
              <a:t>Stop at the approval boundary</a:t>
            </a:r>
          </a:p>
        </p:txBody>
      </p:sp>
      <p:sp>
        <p:nvSpPr>
          <p:cNvPr id="4" name="evidence-subtitle-2">
            <a:extLst xmlns:a="http://schemas.openxmlformats.org/drawingml/2006/main">
              <a:ext uri="{FF2B5EF4-FFF2-40B4-BE49-F238E27FC236}">
                <a16:creationId xmlns:a16="http://schemas.microsoft.com/office/drawing/2014/main" id="{75FA4746-89DA-4D01-8994-D325ECD6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9675"/>
            <a:ext cx="1082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BACBE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9BACBE"/>
                </a:solidFill>
                <a:latin typeface="Arial"/>
                <a:ea typeface="Arial"/>
                <a:cs typeface="Arial"/>
              </a:rPr>
              <a:t>The signed mandate makes the agent's authority explicit before any payment side effect.</a:t>
            </a:r>
          </a:p>
        </p:txBody>
      </p:sp>
      <p:sp>
        <p:nvSpPr>
          <p:cNvPr id="5" name="evidence-frame-2">
            <a:extLst xmlns:a="http://schemas.openxmlformats.org/drawingml/2006/main">
              <a:ext uri="{FF2B5EF4-FFF2-40B4-BE49-F238E27FC236}">
                <a16:creationId xmlns:a16="http://schemas.microsoft.com/office/drawing/2014/main" id="{AC79C44C-F32C-47BA-A4AA-268F97E9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610100"/>
          </a:xfrm>
          <a:prstGeom xmlns:a="http://schemas.openxmlformats.org/drawingml/2006/main" prst="roundRect">
            <a:avLst>
              <a:gd name="adj" fmla="val 1653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14288">
            <a:solidFill>
              <a:srgbClr val="2B3746"/>
            </a:solidFill>
            <a:prstDash val="solid"/>
          </a:ln>
        </p:spPr>
      </p:sp>
      <p:pic>
        <p:nvPicPr>
          <p:cNvPr id="12" name="evidence-image-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abe571a06f4456"/>
          <a:srcRect xmlns:a="http://schemas.openxmlformats.org/drawingml/2006/main" l="0" t="28005" r="0" b="280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1733550"/>
            <a:ext cx="10629900" cy="4419600"/>
          </a:xfrm>
          <a:prstGeom xmlns:a="http://schemas.openxmlformats.org/drawingml/2006/main" prst="roundRect">
            <a:avLst>
              <a:gd name="adj" fmla="val 2155"/>
            </a:avLst>
          </a:prstGeom>
        </p:spPr>
      </p:pic>
    </p:spTree>
    <p:extLst>
      <p:ext uri="{BB962C8B-B14F-4D97-AF65-F5344CB8AC3E}">
        <p14:creationId xmlns:p14="http://schemas.microsoft.com/office/powerpoint/2010/main" val="96153798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-background-3">
            <a:extLst xmlns:a="http://schemas.openxmlformats.org/drawingml/2006/main">
              <a:ext uri="{FF2B5EF4-FFF2-40B4-BE49-F238E27FC236}">
                <a16:creationId xmlns:a16="http://schemas.microsoft.com/office/drawing/2014/main" id="{391028B0-3F94-4F91-BAF4-52C73E1CA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</p:sp>
      <p:sp>
        <p:nvSpPr>
          <p:cNvPr id="2" name="evidence-accent-3">
            <a:extLst xmlns:a="http://schemas.openxmlformats.org/drawingml/2006/main">
              <a:ext uri="{FF2B5EF4-FFF2-40B4-BE49-F238E27FC236}">
                <a16:creationId xmlns:a16="http://schemas.microsoft.com/office/drawing/2014/main" id="{F56EB157-1161-41EB-87E6-F1D7A3E3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1811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7FF43"/>
          </a:solidFill>
          <a:ln xmlns:a="http://schemas.openxmlformats.org/drawingml/2006/main" w="0">
            <a:solidFill>
              <a:srgbClr val="D7FF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150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0150E"/>
                </a:solidFill>
                <a:latin typeface="Arial"/>
                <a:ea typeface="Arial"/>
                <a:cs typeface="Arial"/>
              </a:rPr>
              <a:t>MONAD · 01</a:t>
            </a:r>
          </a:p>
        </p:txBody>
      </p:sp>
      <p:sp>
        <p:nvSpPr>
          <p:cNvPr id="3" name="evidence-title-3">
            <a:extLst xmlns:a="http://schemas.openxmlformats.org/drawingml/2006/main">
              <a:ext uri="{FF2B5EF4-FFF2-40B4-BE49-F238E27FC236}">
                <a16:creationId xmlns:a16="http://schemas.microsoft.com/office/drawing/2014/main" id="{C382A94C-7070-4AA6-A604-D58F66E0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5F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2F5F8"/>
                </a:solidFill>
                <a:latin typeface="Arial"/>
                <a:ea typeface="Arial"/>
                <a:cs typeface="Arial"/>
              </a:rPr>
              <a:t>Public contract evidence</a:t>
            </a:r>
          </a:p>
        </p:txBody>
      </p:sp>
      <p:sp>
        <p:nvSpPr>
          <p:cNvPr id="4" name="evidence-subtitle-3">
            <a:extLst xmlns:a="http://schemas.openxmlformats.org/drawingml/2006/main">
              <a:ext uri="{FF2B5EF4-FFF2-40B4-BE49-F238E27FC236}">
                <a16:creationId xmlns:a16="http://schemas.microsoft.com/office/drawing/2014/main" id="{67CF98C1-7886-4176-9186-D7B7434B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9675"/>
            <a:ext cx="1082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BACBE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9BACBE"/>
                </a:solidFill>
                <a:latin typeface="Arial"/>
                <a:ea typeface="Arial"/>
                <a:cs typeface="Arial"/>
              </a:rPr>
              <a:t>One Monad testnet registry, with creation, spend-recording, and revocation visible together.</a:t>
            </a:r>
          </a:p>
        </p:txBody>
      </p:sp>
      <p:sp>
        <p:nvSpPr>
          <p:cNvPr id="5" name="evidence-frame-3">
            <a:extLst xmlns:a="http://schemas.openxmlformats.org/drawingml/2006/main">
              <a:ext uri="{FF2B5EF4-FFF2-40B4-BE49-F238E27FC236}">
                <a16:creationId xmlns:a16="http://schemas.microsoft.com/office/drawing/2014/main" id="{BEA38126-F55C-4217-9EB5-E3933357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610100"/>
          </a:xfrm>
          <a:prstGeom xmlns:a="http://schemas.openxmlformats.org/drawingml/2006/main" prst="roundRect">
            <a:avLst>
              <a:gd name="adj" fmla="val 1653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14288">
            <a:solidFill>
              <a:srgbClr val="2B3746"/>
            </a:solidFill>
            <a:prstDash val="solid"/>
          </a:ln>
        </p:spPr>
      </p:sp>
      <p:pic>
        <p:nvPicPr>
          <p:cNvPr id="12" name="evidence-image-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76cc3bee18490e"/>
          <a:stretch xmlns:a="http://schemas.openxmlformats.org/drawingml/2006/main"/>
        </p:blipFill>
        <p:spPr>
          <a:xfrm xmlns:a="http://schemas.openxmlformats.org/drawingml/2006/main">
            <a:off x="1728858" y="1733550"/>
            <a:ext cx="8734284" cy="4419600"/>
          </a:xfrm>
          <a:prstGeom xmlns:a="http://schemas.openxmlformats.org/drawingml/2006/main" prst="roundRect">
            <a:avLst>
              <a:gd name="adj" fmla="val 2155"/>
            </a:avLst>
          </a:prstGeom>
        </p:spPr>
      </p:pic>
    </p:spTree>
    <p:extLst>
      <p:ext uri="{BB962C8B-B14F-4D97-AF65-F5344CB8AC3E}">
        <p14:creationId xmlns:p14="http://schemas.microsoft.com/office/powerpoint/2010/main" val="89751491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-background-4">
            <a:extLst xmlns:a="http://schemas.openxmlformats.org/drawingml/2006/main">
              <a:ext uri="{FF2B5EF4-FFF2-40B4-BE49-F238E27FC236}">
                <a16:creationId xmlns:a16="http://schemas.microsoft.com/office/drawing/2014/main" id="{11767F44-5D3C-4B04-B78C-823C88DD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</p:sp>
      <p:sp>
        <p:nvSpPr>
          <p:cNvPr id="2" name="evidence-accent-4">
            <a:extLst xmlns:a="http://schemas.openxmlformats.org/drawingml/2006/main">
              <a:ext uri="{FF2B5EF4-FFF2-40B4-BE49-F238E27FC236}">
                <a16:creationId xmlns:a16="http://schemas.microsoft.com/office/drawing/2014/main" id="{6E176257-D6D8-442C-8567-7D1A91BD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1811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7FF43"/>
          </a:solidFill>
          <a:ln xmlns:a="http://schemas.openxmlformats.org/drawingml/2006/main" w="0">
            <a:solidFill>
              <a:srgbClr val="D7FF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150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0150E"/>
                </a:solidFill>
                <a:latin typeface="Arial"/>
                <a:ea typeface="Arial"/>
                <a:cs typeface="Arial"/>
              </a:rPr>
              <a:t>MONAD · 02</a:t>
            </a:r>
          </a:p>
        </p:txBody>
      </p:sp>
      <p:sp>
        <p:nvSpPr>
          <p:cNvPr id="3" name="evidence-title-4">
            <a:extLst xmlns:a="http://schemas.openxmlformats.org/drawingml/2006/main">
              <a:ext uri="{FF2B5EF4-FFF2-40B4-BE49-F238E27FC236}">
                <a16:creationId xmlns:a16="http://schemas.microsoft.com/office/drawing/2014/main" id="{01086DB1-4D6B-4A28-97A6-8C9B71D2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5F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2F5F8"/>
                </a:solidFill>
                <a:latin typeface="Arial"/>
                <a:ea typeface="Arial"/>
                <a:cs typeface="Arial"/>
              </a:rPr>
              <a:t>Spend recorded on-chain</a:t>
            </a:r>
          </a:p>
        </p:txBody>
      </p:sp>
      <p:sp>
        <p:nvSpPr>
          <p:cNvPr id="4" name="evidence-subtitle-4">
            <a:extLst xmlns:a="http://schemas.openxmlformats.org/drawingml/2006/main">
              <a:ext uri="{FF2B5EF4-FFF2-40B4-BE49-F238E27FC236}">
                <a16:creationId xmlns:a16="http://schemas.microsoft.com/office/drawing/2014/main" id="{0869FC4D-3F4A-4BBA-BD17-7188FE8A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9675"/>
            <a:ext cx="1082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BACBE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9BACBE"/>
                </a:solidFill>
                <a:latin typeface="Arial"/>
                <a:ea typeface="Arial"/>
                <a:cs typeface="Arial"/>
              </a:rPr>
              <a:t>The successful transaction is immutable evidence that the mandate's remaining ceiling changed.</a:t>
            </a:r>
          </a:p>
        </p:txBody>
      </p:sp>
      <p:sp>
        <p:nvSpPr>
          <p:cNvPr id="5" name="evidence-frame-4">
            <a:extLst xmlns:a="http://schemas.openxmlformats.org/drawingml/2006/main">
              <a:ext uri="{FF2B5EF4-FFF2-40B4-BE49-F238E27FC236}">
                <a16:creationId xmlns:a16="http://schemas.microsoft.com/office/drawing/2014/main" id="{87E04674-2B8B-44B5-AE24-B5B102AC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610100"/>
          </a:xfrm>
          <a:prstGeom xmlns:a="http://schemas.openxmlformats.org/drawingml/2006/main" prst="roundRect">
            <a:avLst>
              <a:gd name="adj" fmla="val 1653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14288">
            <a:solidFill>
              <a:srgbClr val="2B3746"/>
            </a:solidFill>
            <a:prstDash val="solid"/>
          </a:ln>
        </p:spPr>
      </p:sp>
      <p:pic>
        <p:nvPicPr>
          <p:cNvPr id="12" name="evidence-image-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4c2c26f3d45d2"/>
          <a:srcRect xmlns:a="http://schemas.openxmlformats.org/drawingml/2006/main" l="0" t="25712" r="0" b="257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1733550"/>
            <a:ext cx="10629900" cy="4419600"/>
          </a:xfrm>
          <a:prstGeom xmlns:a="http://schemas.openxmlformats.org/drawingml/2006/main" prst="roundRect">
            <a:avLst>
              <a:gd name="adj" fmla="val 2155"/>
            </a:avLst>
          </a:prstGeom>
        </p:spPr>
      </p:pic>
    </p:spTree>
    <p:extLst>
      <p:ext uri="{BB962C8B-B14F-4D97-AF65-F5344CB8AC3E}">
        <p14:creationId xmlns:p14="http://schemas.microsoft.com/office/powerpoint/2010/main" val="99084350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-background-5">
            <a:extLst xmlns:a="http://schemas.openxmlformats.org/drawingml/2006/main">
              <a:ext uri="{FF2B5EF4-FFF2-40B4-BE49-F238E27FC236}">
                <a16:creationId xmlns:a16="http://schemas.microsoft.com/office/drawing/2014/main" id="{2E3C06FE-37C7-47D0-98F9-7D994E58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</p:sp>
      <p:sp>
        <p:nvSpPr>
          <p:cNvPr id="2" name="evidence-accent-5">
            <a:extLst xmlns:a="http://schemas.openxmlformats.org/drawingml/2006/main">
              <a:ext uri="{FF2B5EF4-FFF2-40B4-BE49-F238E27FC236}">
                <a16:creationId xmlns:a16="http://schemas.microsoft.com/office/drawing/2014/main" id="{742A29AC-1834-4184-B0A1-4657463B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1811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7FF43"/>
          </a:solidFill>
          <a:ln xmlns:a="http://schemas.openxmlformats.org/drawingml/2006/main" w="0">
            <a:solidFill>
              <a:srgbClr val="D7FF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150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0150E"/>
                </a:solidFill>
                <a:latin typeface="Arial"/>
                <a:ea typeface="Arial"/>
                <a:cs typeface="Arial"/>
              </a:rPr>
              <a:t>MONAD · 03</a:t>
            </a:r>
          </a:p>
        </p:txBody>
      </p:sp>
      <p:sp>
        <p:nvSpPr>
          <p:cNvPr id="3" name="evidence-title-5">
            <a:extLst xmlns:a="http://schemas.openxmlformats.org/drawingml/2006/main">
              <a:ext uri="{FF2B5EF4-FFF2-40B4-BE49-F238E27FC236}">
                <a16:creationId xmlns:a16="http://schemas.microsoft.com/office/drawing/2014/main" id="{699DE518-A70F-4CF5-AEF8-868EE6A5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5F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2F5F8"/>
                </a:solidFill>
                <a:latin typeface="Arial"/>
                <a:ea typeface="Arial"/>
                <a:cs typeface="Arial"/>
              </a:rPr>
              <a:t>Authority revoked on-chain</a:t>
            </a:r>
          </a:p>
        </p:txBody>
      </p:sp>
      <p:sp>
        <p:nvSpPr>
          <p:cNvPr id="4" name="evidence-subtitle-5">
            <a:extLst xmlns:a="http://schemas.openxmlformats.org/drawingml/2006/main">
              <a:ext uri="{FF2B5EF4-FFF2-40B4-BE49-F238E27FC236}">
                <a16:creationId xmlns:a16="http://schemas.microsoft.com/office/drawing/2014/main" id="{8CBD48EF-16F3-4A7D-8F4E-C73B74E2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9675"/>
            <a:ext cx="1082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BACBE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9BACBE"/>
                </a:solidFill>
                <a:latin typeface="Arial"/>
                <a:ea typeface="Arial"/>
                <a:cs typeface="Arial"/>
              </a:rPr>
              <a:t>Revocation is a state transition, not an application toggle — later authorization attempts fail.</a:t>
            </a:r>
          </a:p>
        </p:txBody>
      </p:sp>
      <p:sp>
        <p:nvSpPr>
          <p:cNvPr id="5" name="evidence-frame-5">
            <a:extLst xmlns:a="http://schemas.openxmlformats.org/drawingml/2006/main">
              <a:ext uri="{FF2B5EF4-FFF2-40B4-BE49-F238E27FC236}">
                <a16:creationId xmlns:a16="http://schemas.microsoft.com/office/drawing/2014/main" id="{3C82188C-46F6-4251-A670-C759B0DF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610100"/>
          </a:xfrm>
          <a:prstGeom xmlns:a="http://schemas.openxmlformats.org/drawingml/2006/main" prst="roundRect">
            <a:avLst>
              <a:gd name="adj" fmla="val 1653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14288">
            <a:solidFill>
              <a:srgbClr val="2B3746"/>
            </a:solidFill>
            <a:prstDash val="solid"/>
          </a:ln>
        </p:spPr>
      </p:sp>
      <p:pic>
        <p:nvPicPr>
          <p:cNvPr id="12" name="evidence-image-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4731e0bd4a4603"/>
          <a:srcRect xmlns:a="http://schemas.openxmlformats.org/drawingml/2006/main" l="0" t="25665" r="0" b="25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1733550"/>
            <a:ext cx="10629900" cy="4419600"/>
          </a:xfrm>
          <a:prstGeom xmlns:a="http://schemas.openxmlformats.org/drawingml/2006/main" prst="roundRect">
            <a:avLst>
              <a:gd name="adj" fmla="val 2155"/>
            </a:avLst>
          </a:prstGeom>
        </p:spPr>
      </p:pic>
    </p:spTree>
    <p:extLst>
      <p:ext uri="{BB962C8B-B14F-4D97-AF65-F5344CB8AC3E}">
        <p14:creationId xmlns:p14="http://schemas.microsoft.com/office/powerpoint/2010/main" val="28187270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vidence-background-6">
            <a:extLst xmlns:a="http://schemas.openxmlformats.org/drawingml/2006/main">
              <a:ext uri="{FF2B5EF4-FFF2-40B4-BE49-F238E27FC236}">
                <a16:creationId xmlns:a16="http://schemas.microsoft.com/office/drawing/2014/main" id="{ED42466D-E6E8-467B-BED2-C07FA16BA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</p:sp>
      <p:sp>
        <p:nvSpPr>
          <p:cNvPr id="2" name="evidence-accent-6">
            <a:extLst xmlns:a="http://schemas.openxmlformats.org/drawingml/2006/main">
              <a:ext uri="{FF2B5EF4-FFF2-40B4-BE49-F238E27FC236}">
                <a16:creationId xmlns:a16="http://schemas.microsoft.com/office/drawing/2014/main" id="{283E9EBC-841F-4877-B163-CDE389BB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118110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D7FF43"/>
          </a:solidFill>
          <a:ln xmlns:a="http://schemas.openxmlformats.org/drawingml/2006/main" w="0">
            <a:solidFill>
              <a:srgbClr val="D7FF43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150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0150E"/>
                </a:solidFill>
                <a:latin typeface="Arial"/>
                <a:ea typeface="Arial"/>
                <a:cs typeface="Arial"/>
              </a:rPr>
              <a:t>RAIN · SANDBOX</a:t>
            </a:r>
          </a:p>
        </p:txBody>
      </p:sp>
      <p:sp>
        <p:nvSpPr>
          <p:cNvPr id="3" name="evidence-title-6">
            <a:extLst xmlns:a="http://schemas.openxmlformats.org/drawingml/2006/main">
              <a:ext uri="{FF2B5EF4-FFF2-40B4-BE49-F238E27FC236}">
                <a16:creationId xmlns:a16="http://schemas.microsoft.com/office/drawing/2014/main" id="{B39F3AE6-B5AC-4B27-B0FB-74039796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108204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2F5F8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2F5F8"/>
                </a:solidFill>
                <a:latin typeface="Arial"/>
                <a:ea typeface="Arial"/>
                <a:cs typeface="Arial"/>
              </a:rPr>
              <a:t>Authenticated Rain connectivity</a:t>
            </a:r>
          </a:p>
        </p:txBody>
      </p:sp>
      <p:sp>
        <p:nvSpPr>
          <p:cNvPr id="4" name="evidence-subtitle-6">
            <a:extLst xmlns:a="http://schemas.openxmlformats.org/drawingml/2006/main">
              <a:ext uri="{FF2B5EF4-FFF2-40B4-BE49-F238E27FC236}">
                <a16:creationId xmlns:a16="http://schemas.microsoft.com/office/drawing/2014/main" id="{0ED0DBE7-E55B-460C-99FB-E1F6046F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9675"/>
            <a:ext cx="1082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 w="0">
            <a:solidFill>
              <a:srgbClr val="0A0E1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BACBE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9BACBE"/>
                </a:solidFill>
                <a:latin typeface="Arial"/>
                <a:ea typeface="Arial"/>
                <a:cs typeface="Arial"/>
              </a:rPr>
              <a:t>A live read-only sandbox call returns HTTP 200; issuance and settlement remain outside this build.</a:t>
            </a:r>
          </a:p>
        </p:txBody>
      </p:sp>
      <p:sp>
        <p:nvSpPr>
          <p:cNvPr id="5" name="evidence-frame-6">
            <a:extLst xmlns:a="http://schemas.openxmlformats.org/drawingml/2006/main">
              <a:ext uri="{FF2B5EF4-FFF2-40B4-BE49-F238E27FC236}">
                <a16:creationId xmlns:a16="http://schemas.microsoft.com/office/drawing/2014/main" id="{BE3B55C5-EEF4-41AE-B82A-DC0D74C5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610100"/>
          </a:xfrm>
          <a:prstGeom xmlns:a="http://schemas.openxmlformats.org/drawingml/2006/main" prst="roundRect">
            <a:avLst>
              <a:gd name="adj" fmla="val 1653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14288">
            <a:solidFill>
              <a:srgbClr val="2B3746"/>
            </a:solidFill>
            <a:prstDash val="solid"/>
          </a:ln>
        </p:spPr>
      </p:sp>
      <p:pic>
        <p:nvPicPr>
          <p:cNvPr id="12" name="evidence-image-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a3e1ab2b61402a"/>
          <a:stretch xmlns:a="http://schemas.openxmlformats.org/drawingml/2006/main"/>
        </p:blipFill>
        <p:spPr>
          <a:xfrm xmlns:a="http://schemas.openxmlformats.org/drawingml/2006/main">
            <a:off x="781050" y="2478369"/>
            <a:ext cx="10629900" cy="2929961"/>
          </a:xfrm>
          <a:prstGeom xmlns:a="http://schemas.openxmlformats.org/drawingml/2006/main" prst="roundRect">
            <a:avLst>
              <a:gd name="adj" fmla="val 2155"/>
            </a:avLst>
          </a:prstGeom>
        </p:spPr>
      </p:pic>
    </p:spTree>
    <p:extLst>
      <p:ext uri="{BB962C8B-B14F-4D97-AF65-F5344CB8AC3E}">
        <p14:creationId xmlns:p14="http://schemas.microsoft.com/office/powerpoint/2010/main" val="12101667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778AC56-A020-4F4B-8EC9-E333EF63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AEADF48-D880-4769-B8A2-13394F7AC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58368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PROOF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F34F624-32A1-4B9F-9E44-C24674A6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960120"/>
            <a:ext cx="10241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Not a diagram. Four public transactions.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ACF50DA2-73ED-48E6-9804-F805318E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93392"/>
            <a:ext cx="6949440" cy="73152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Oval 5">
            <a:extLst xmlns:a="http://schemas.openxmlformats.org/drawingml/2006/main">
              <a:ext uri="{FF2B5EF4-FFF2-40B4-BE49-F238E27FC236}">
                <a16:creationId xmlns:a16="http://schemas.microsoft.com/office/drawing/2014/main" id="{A0A742D0-4639-4FE2-826B-CBA8F2B0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229514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9B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2EB9DAC-D611-4785-8AF7-DD59E0D9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130552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Registry deployed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C62785E-2586-41B7-83F3-FFAE73FEF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404872"/>
            <a:ext cx="45720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block 52019868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C4E33EA-788E-46BC-9F3F-27FC6787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24942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50" b="1" i="0">
                <a:solidFill>
                  <a:srgbClr val="9AA9BE"/>
                </a:solidFill>
                <a:latin typeface="Courier New"/>
                <a:ea typeface="Courier New"/>
                <a:cs typeface="Courier New"/>
              </a:rPr>
              <a:t>0x4fba…4a41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DB54F6D-7332-4900-80AF-F7134038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816352"/>
            <a:ext cx="6949440" cy="73152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0D89008D-BD9F-4D92-87A3-14B386E5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11810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9B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3523B2A-9DBA-402C-A8A3-038E8BD8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953512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Mandate created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8FD5A59-7222-4868-A48F-83D9D4B0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227832"/>
            <a:ext cx="45720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digest recomputed on-chain from 12 signed fields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F026A78-ED67-46DE-87DB-2ED2FFEB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07238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50" b="1" i="0">
                <a:solidFill>
                  <a:srgbClr val="9AA9BE"/>
                </a:solidFill>
                <a:latin typeface="Courier New"/>
                <a:ea typeface="Courier New"/>
                <a:cs typeface="Courier New"/>
              </a:rPr>
              <a:t>0x6883…1688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2DAAC75-B15B-4977-9AFC-EDC007A9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39312"/>
            <a:ext cx="6949440" cy="73152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3949C50F-CA26-4367-8B2D-EA689305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3941063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FF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DD12585-CD2E-44D8-850C-2B5166C3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776472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$180 sample recorded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37A5583-A8B9-4DF3-A8CE-099E89AE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050791"/>
            <a:ext cx="45720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spent 18000 → remaining 166000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4D6AA740-33F4-4157-9E44-9F09AAB0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89534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50" b="1" i="0">
                <a:solidFill>
                  <a:srgbClr val="D9FF55"/>
                </a:solidFill>
                <a:latin typeface="Courier New"/>
                <a:ea typeface="Courier New"/>
                <a:cs typeface="Courier New"/>
              </a:rPr>
              <a:t>0xb690…f098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0A4A759-4513-45ED-98A6-9B8B061C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462272"/>
            <a:ext cx="6949440" cy="73152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F9C28C3A-ECD8-4915-BA71-6A998455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" y="476402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93AC740-305E-4847-8B06-5D4C4A84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599432"/>
            <a:ext cx="29260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Mandate revoked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F9F3407-851F-4AA3-8596-F1CA8EE9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873752"/>
            <a:ext cx="45720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every later payment reverts Revoked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18816DE-0628-4A30-BA85-C0B5E11E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71830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1150" b="1" i="0">
                <a:solidFill>
                  <a:srgbClr val="FB7185"/>
                </a:solidFill>
                <a:latin typeface="Courier New"/>
                <a:ea typeface="Courier New"/>
                <a:cs typeface="Courier New"/>
              </a:rPr>
              <a:t>0x48b5…3ded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A1E58990-A693-4F9F-89E8-57235622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3392"/>
            <a:ext cx="2880360" cy="84124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D7BACB15-440B-4160-8C9F-58A32941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093976"/>
            <a:ext cx="1005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208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34706040-0176-492D-996C-9908C39CD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267712"/>
            <a:ext cx="1554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tests passing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30B9E128-521C-4034-8342-2D8563F6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17520"/>
            <a:ext cx="2880360" cy="84124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BCC16B7D-6CB7-42A0-93F4-8427E43B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118104"/>
            <a:ext cx="1005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C7B61565-B945-456F-B046-9A5DF91D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91840"/>
            <a:ext cx="1554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Foundry contract tests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9E739526-14DC-43FA-AAA1-F62DF317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41648"/>
            <a:ext cx="2880360" cy="84124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E739D60B-DF7B-4996-9D10-8CD8F8B2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4142232"/>
            <a:ext cx="10058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4ADE8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0FF99210-A1C0-4B35-9E58-D83DDAF8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315968"/>
            <a:ext cx="1554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 i="0">
                <a:solidFill>
                  <a:srgbClr val="9AA9BE"/>
                </a:solidFill>
                <a:latin typeface="Arial"/>
                <a:ea typeface="Arial"/>
                <a:cs typeface="Arial"/>
              </a:rPr>
              <a:t>processor calls when blocked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AC97D035-9579-416E-A5C0-DC60C0C9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65776"/>
            <a:ext cx="2880360" cy="658368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E2836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BA4130E9-D87E-4B7A-AB17-32E2DFC3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5184648"/>
            <a:ext cx="2377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1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REGISTRY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EBED7863-7E41-4170-8F2C-2BDA414C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5404104"/>
            <a:ext cx="2377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D9FF55"/>
                </a:solidFill>
                <a:latin typeface="Courier New"/>
                <a:ea typeface="Courier New"/>
                <a:cs typeface="Courier New"/>
              </a:rPr>
              <a:t>0x9553c5…dbf1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23CC8BD3-DC57-4871-B24C-87579EB8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40680"/>
            <a:ext cx="6949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5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Every figure re-checkable: </a:t>
            </a:r>
            <a:r>
              <a:rPr sz="115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pnpm verify:claims</a:t>
            </a:r>
            <a:r>
              <a:rPr sz="1150" b="0" i="0">
                <a:solidFill>
                  <a:srgbClr val="8A9CB5"/>
                </a:solidFill>
                <a:latin typeface="Arial"/>
                <a:ea typeface="Arial"/>
                <a:cs typeface="Arial"/>
              </a:rPr>
              <a:t>  ·  output/monad/deployment.json</a:t>
            </a:r>
          </a:p>
        </p:txBody>
      </p:sp>
    </p:spTree>
    <p:extLst>
      <p:ext uri="{BB962C8B-B14F-4D97-AF65-F5344CB8AC3E}">
        <p14:creationId xmlns:p14="http://schemas.microsoft.com/office/powerpoint/2010/main" val="176161231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9C7D062-8740-41D3-82BD-72679040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4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6E5BEC-2B43-4636-AC5E-1E8D82EE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58368"/>
            <a:ext cx="548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D9FF55"/>
                </a:solidFill>
                <a:latin typeface="Arial"/>
                <a:ea typeface="Arial"/>
                <a:cs typeface="Arial"/>
              </a:rPr>
              <a:t>THE BOUNDARY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CEB04B5-14C4-4C5D-85CB-4DFBBBD5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960120"/>
            <a:ext cx="1024128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200" b="1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What we enforce — and what we don’t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EF81E7D-1C7D-40C4-A05B-12BDB8F4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4892040" cy="27432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50A366B-6390-425C-946A-61C2E50A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212848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4ADE80"/>
                </a:solidFill>
                <a:latin typeface="Arial"/>
                <a:ea typeface="Arial"/>
                <a:cs typeface="Arial"/>
              </a:rPr>
              <a:t>ENFORCED BY THE CONTRACT</a:t>
            </a:r>
          </a:p>
        </p:txBody>
      </p:sp>
      <p:sp>
        <p:nvSpPr>
          <p:cNvPr id="7" name="Oval 6">
            <a:extLst xmlns:a="http://schemas.openxmlformats.org/drawingml/2006/main">
              <a:ext uri="{FF2B5EF4-FFF2-40B4-BE49-F238E27FC236}">
                <a16:creationId xmlns:a16="http://schemas.microsoft.com/office/drawing/2014/main" id="{58D13E85-B666-4E5B-BB0F-ACEA24851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660904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DE8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85616A3-0EFC-43B1-809F-0A95642B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87752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Cumulative spending ceiling</a:t>
            </a: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07E1319D-6ACF-4167-9E94-EC9BDE73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063240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DE8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310C5B9-CD56-4A9D-8AEF-04DBC14D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90088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Approved-payee scope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A4EC2AA3-DDE0-4F2B-A5DE-44FF6F21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65576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DE8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335B7DD-D329-4B7F-B52E-65DCFD4F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392424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Validity window</a:t>
            </a:r>
          </a:p>
        </p:txBody>
      </p:sp>
      <p:sp>
        <p:nvSpPr>
          <p:cNvPr id="13" name="Oval 12">
            <a:extLst xmlns:a="http://schemas.openxmlformats.org/drawingml/2006/main">
              <a:ext uri="{FF2B5EF4-FFF2-40B4-BE49-F238E27FC236}">
                <a16:creationId xmlns:a16="http://schemas.microsoft.com/office/drawing/2014/main" id="{2E8E337C-04E1-4792-8A2B-2B1D6BC8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867911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DE8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63E03B6-A86B-4144-B33E-C143B4BE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794760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Revocation</a:t>
            </a: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41DEC92B-1FB5-48D8-889B-03597972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270248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ADE8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A43DA89-A7D3-4F37-8B02-805F5AF07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4197096"/>
            <a:ext cx="4023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Deposit cap, via an approval
signature verified on-chain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F7C9F38F-C8F6-4C58-9769-C3CEC588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965960"/>
            <a:ext cx="4892040" cy="27432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E2A"/>
          </a:solidFill>
          <a:ln xmlns:a="http://schemas.openxmlformats.org/drawingml/2006/main" w="12700">
            <a:solidFill>
              <a:srgbClr val="2A364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5F1A653-6EF5-4D25-AB6F-2B2CF22A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12848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 i="0">
                <a:solidFill>
                  <a:srgbClr val="FB7185"/>
                </a:solidFill>
                <a:latin typeface="Arial"/>
                <a:ea typeface="Arial"/>
                <a:cs typeface="Arial"/>
              </a:rPr>
              <a:t>NOT ENFORCED — AND WE SAY SO</a:t>
            </a:r>
          </a:p>
        </p:txBody>
      </p:sp>
      <p:sp>
        <p:nvSpPr>
          <p:cNvPr id="19" name="Oval 18">
            <a:extLst xmlns:a="http://schemas.openxmlformats.org/drawingml/2006/main">
              <a:ext uri="{FF2B5EF4-FFF2-40B4-BE49-F238E27FC236}">
                <a16:creationId xmlns:a16="http://schemas.microsoft.com/office/drawing/2014/main" id="{A41917CB-7E72-475E-84DB-16AA03FF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660904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224E462-2B2D-425F-BD2F-3116564C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587752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Whether the signed PO value matches
the real invoice. No contract can.</a:t>
            </a: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5891B326-7F0C-4D0B-A6CC-EECDCF683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227832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CB85F0C-E4FD-4471-8333-E39FAD9B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154680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Supplier verification. Out of scope,
and we don’t claim it.</a:t>
            </a:r>
          </a:p>
        </p:txBody>
      </p:sp>
      <p:sp>
        <p:nvSpPr>
          <p:cNvPr id="23" name="Oval 22">
            <a:extLst xmlns:a="http://schemas.openxmlformats.org/drawingml/2006/main">
              <a:ext uri="{FF2B5EF4-FFF2-40B4-BE49-F238E27FC236}">
                <a16:creationId xmlns:a16="http://schemas.microsoft.com/office/drawing/2014/main" id="{49D58B91-9ACF-4F41-A2BC-12F4F936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794759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77D094F-94AA-4E44-A1E1-3292D504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721608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0" i="0">
                <a:solidFill>
                  <a:srgbClr val="E8EDF4"/>
                </a:solidFill>
                <a:latin typeface="Arial"/>
                <a:ea typeface="Arial"/>
                <a:cs typeface="Arial"/>
              </a:rPr>
              <a:t>Rain sandbox authentication is live.
No live issuance or settlement.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6A300827-5EDE-4115-9A58-0EE17627F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029200"/>
            <a:ext cx="10104120" cy="105156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82011"/>
          </a:solidFill>
          <a:ln xmlns:a="http://schemas.openxmlformats.org/drawingml/2006/main" w="12700">
            <a:solidFill>
              <a:srgbClr val="3D4A1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75ECB08C-3861-4A67-A674-B0A15ED7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257800"/>
            <a:ext cx="9509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0"/>
              </a:spcAft>
              <a:buNone/>
            </a:pPr>
            <a:r>
              <a:rPr sz="135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Live Rain GET: HTTP 200. For blocked payments, </a:t>
            </a:r>
            <a:r>
              <a:rPr sz="1350" b="1">
                <a:solidFill>
                  <a:srgbClr val="D9FF55"/>
                </a:solidFill>
                <a:latin typeface="Arial"/>
                <a:ea typeface="Arial"/>
                <a:cs typeface="Arial"/>
              </a:rPr>
              <a:t>MockRainAdapter.calls = 0</a:t>
            </a:r>
            <a:r>
              <a:rPr sz="1350" b="0">
                <a:solidFill>
                  <a:srgbClr val="9AA9BE"/>
                </a:solidFill>
                <a:latin typeface="Arial"/>
                <a:ea typeface="Arial"/>
                <a:cs typeface="Arial"/>
              </a:rPr>
              <a:t> — Monad remains the gate before mock execution.</a:t>
            </a:r>
          </a:p>
        </p:txBody>
      </p:sp>
    </p:spTree>
    <p:extLst>
      <p:ext uri="{BB962C8B-B14F-4D97-AF65-F5344CB8AC3E}">
        <p14:creationId xmlns:p14="http://schemas.microsoft.com/office/powerpoint/2010/main" val="54136775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2026-08-09T04:57:34.4210000Z</dcterms:created>
  <dcterms:modified xsi:type="dcterms:W3CDTF">2026-08-09T04:57:34.4210000Z</dcterms:modified>
</coreProperties>
</file>